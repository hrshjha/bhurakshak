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baf5215c043c7" /><Relationship Type="http://schemas.openxmlformats.org/officeDocument/2006/relationships/extended-properties" Target="/docProps/app.xml" Id="R137e4d5f56bd4565" /><Relationship Type="http://schemas.openxmlformats.org/officeDocument/2006/relationships/officeDocument" Target="/ppt/presentation.xml" Id="R84ae8fff060d4f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2761b1fbb74bb0"/>
  </p:sldMasterIdLst>
  <p:notesMasterIdLst>
    <p:notesMasterId xmlns:r="http://schemas.openxmlformats.org/officeDocument/2006/relationships" r:id="R46a7933677714c91"/>
  </p:notesMasterIdLst>
  <p:sldIdLst>
    <p:sldId xmlns:r="http://schemas.openxmlformats.org/officeDocument/2006/relationships" id="256" r:id="R2173108676e24df9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9f9a8baaa4a79" /><Relationship Type="http://schemas.openxmlformats.org/officeDocument/2006/relationships/slideMaster" Target="/ppt/slideMasters/slideMaster1.xml" Id="R052761b1fbb74bb0" /><Relationship Type="http://schemas.openxmlformats.org/officeDocument/2006/relationships/notesMaster" Target="/ppt/notesMasters/notesMaster1.xml" Id="R46a7933677714c91" /><Relationship Type="http://schemas.openxmlformats.org/officeDocument/2006/relationships/presProps" Target="/ppt/presProps.xml" Id="Rf689d48bcec24a51" /><Relationship Type="http://schemas.openxmlformats.org/officeDocument/2006/relationships/tableStyles" Target="/ppt/tableStyles.xml" Id="R3ed12295cc23446a" /><Relationship Type="http://schemas.openxmlformats.org/officeDocument/2006/relationships/slide" Target="/ppt/slides/slide1.xml" Id="R2173108676e2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dfc0a8d754c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8e63796e2d44b7" /><Relationship Type="http://schemas.openxmlformats.org/officeDocument/2006/relationships/notesMaster" Target="/ppt/notesMasters/notesMaster1.xml" Id="R7949a2f3bfe943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data source: reports/final_eval.md (one-time locked synthetic held-out evaluation; tuned XGBoost CRITICAL recall 0.0933) and reports/domain_gap.md (seeded synthetic tabletop stand-in, frozen model without retraining; CRITICAL recall 0.0000; 18 inputs absent; not a physical rig). Economic source: prd.md §8.1, rough India small-batch estimates: per-node ₹2,600–4,600, gateway ₹8,500–13,500, six-node plus gateway prototype ₹24,000–40,000. The total is a separate prototype estimate and must not be added to the component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49a0c620b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8cc8cdfb943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cab91841240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68e80d9584c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98cdc9a924d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7937829a64e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09A81F5-FB88-4938-972B-4F39A907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040571-5EBA-41FA-8036-4812275FE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5C210BF-4FC8-45CF-B99A-504014CD37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D059A58-8C86-4B14-9D94-28A7A9F3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54023B-5BB3-4A79-A5CE-DDB55105D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E6766E-06A1-45C7-B120-CBE46CF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1121CD-D681-4D30-8293-E87C5F1685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BA7B992-A6D4-4362-9C4D-1FB2226BF7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BF6B31E-6E60-4881-91ED-7A2019C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A5B6E8-AEC1-420A-A6DC-F4EAA3345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55182E-F451-454D-BB88-E2F2C2B562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DCD3F4-2867-431A-8949-1FDCB6B764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B3FDECD-1338-4409-A0D8-93FFC3FC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2C3D66-33E2-4514-85AE-820A3E514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F67952-46C8-405E-BCC1-8AC829B19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61f686bc14d43" /><Relationship Type="http://schemas.openxmlformats.org/officeDocument/2006/relationships/slideLayout" Target="/ppt/slideLayouts/slideLayout1.xml" Id="R1e18689cb2e54d37" /><Relationship Type="http://schemas.openxmlformats.org/officeDocument/2006/relationships/slideLayout" Target="/ppt/slideLayouts/slideLayout2.xml" Id="R13e42f262b4a4ff2" /><Relationship Type="http://schemas.openxmlformats.org/officeDocument/2006/relationships/slideLayout" Target="/ppt/slideLayouts/slideLayout3.xml" Id="Rd8329c7a1c9a47ec" /><Relationship Type="http://schemas.openxmlformats.org/officeDocument/2006/relationships/slideLayout" Target="/ppt/slideLayouts/slideLayout4.xml" Id="Rc72752c079bb4a1f" /><Relationship Type="http://schemas.openxmlformats.org/officeDocument/2006/relationships/slideLayout" Target="/ppt/slideLayouts/slideLayout5.xml" Id="R7b6fe336b60f41ee" /><Relationship Type="http://schemas.openxmlformats.org/officeDocument/2006/relationships/slideLayout" Target="/ppt/slideLayouts/slideLayout6.xml" Id="R2a2a1ac91e69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8689cb2e54d37"/>
    <p:sldLayoutId xmlns:r="http://schemas.openxmlformats.org/officeDocument/2006/relationships" id="2147483650" r:id="R13e42f262b4a4ff2"/>
    <p:sldLayoutId xmlns:r="http://schemas.openxmlformats.org/officeDocument/2006/relationships" id="2147483651" r:id="Rd8329c7a1c9a47ec"/>
    <p:sldLayoutId xmlns:r="http://schemas.openxmlformats.org/officeDocument/2006/relationships" id="2147483652" r:id="Rc72752c079bb4a1f"/>
    <p:sldLayoutId xmlns:r="http://schemas.openxmlformats.org/officeDocument/2006/relationships" id="2147483653" r:id="R7b6fe336b60f41ee"/>
    <p:sldLayoutId xmlns:r="http://schemas.openxmlformats.org/officeDocument/2006/relationships" id="2147483654" r:id="R2a2a1ac91e69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3071cf1164bd3" /><Relationship Type="http://schemas.openxmlformats.org/officeDocument/2006/relationships/image" Target="/ppt/media/image.png" Id="Rfcd98c65022d46e5" /><Relationship Type="http://schemas.openxmlformats.org/officeDocument/2006/relationships/chart" Target="/ppt/slides/charts/chart1.xml" Id="Rc0635d988e9e4d20" /><Relationship Type="http://schemas.openxmlformats.org/officeDocument/2006/relationships/chart" Target="/ppt/slides/charts/chart2.xml" Id="R4c37e4b89f9f4ba5" /><Relationship Type="http://schemas.openxmlformats.org/officeDocument/2006/relationships/notesSlide" Target="/ppt/notesSlides/notesSlide1.xml" Id="R0eafddf31ca54c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CRITICAL recall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575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XGBoost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Data'!$A$2:$A$3</c:f>
              <c:strCache>
                <c:ptCount val="2"/>
                <c:pt idx="0">
                  <c:v>Synthetic test</c:v>
                </c:pt>
                <c:pt idx="1">
                  <c:v>Stand-in*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9.33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Estimated cost (₹000s)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575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Low</c:v>
          </c:tx>
          <c:spPr>
            <a:solidFill xmlns:a="http://schemas.openxmlformats.org/drawingml/2006/main">
              <a:srgbClr val="83C993"/>
            </a:solidFill>
          </c:spPr>
          <c:cat>
            <c:strRef>
              <c:f>'Chart Data'!$A$2:$A$4</c:f>
              <c:strCache>
                <c:ptCount val="3"/>
                <c:pt idx="0">
                  <c:v>Node</c:v>
                </c:pt>
                <c:pt idx="1">
                  <c:v>Gateway</c:v>
                </c:pt>
                <c:pt idx="2">
                  <c:v>6 nodes + gateway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</c:v>
                </c:pt>
                <c:pt idx="1">
                  <c:v>8.5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v>High</c:v>
          </c:tx>
          <c:spPr>
            <a:solidFill xmlns:a="http://schemas.openxmlformats.org/drawingml/2006/main">
              <a:srgbClr val="287C43"/>
            </a:solidFill>
          </c:spPr>
          <c:cat>
            <c:strRef>
              <c:f>'Chart Data'!$C$2:$C$4</c:f>
              <c:strCache>
                <c:ptCount val="3"/>
                <c:pt idx="0">
                  <c:v>Node</c:v>
                </c:pt>
                <c:pt idx="1">
                  <c:v>Gateway</c:v>
                </c:pt>
                <c:pt idx="2">
                  <c:v>6 nodes + gateway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4.6</c:v>
                </c:pt>
                <c:pt idx="1">
                  <c:v>13.5</c:v>
                </c:pt>
                <c:pt idx="2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98c65022d46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white-chart-canvas">
            <a:extLst xmlns:a="http://schemas.openxmlformats.org/drawingml/2006/main">
              <a:ext uri="{FF2B5EF4-FFF2-40B4-BE49-F238E27FC236}">
                <a16:creationId xmlns:a16="http://schemas.microsoft.com/office/drawing/2014/main" id="{67E84803-61D3-4D1F-BEA9-AF6E9443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905625"/>
            <a:ext cx="68389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372350" y="7105650"/>
          <a:ext xmlns:a="http://schemas.openxmlformats.org/drawingml/2006/main" cx="31337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635d988e9e4d20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534650" y="7105650"/>
          <a:ext xmlns:a="http://schemas.openxmlformats.org/drawingml/2006/main" cx="33909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37e4b89f9f4ba5"/>
          </a:graphicData>
        </a:graphic>
      </p:graphicFrame>
      <p:sp>
        <p:nvSpPr>
          <p:cNvPr id="5" name="ml-source-note">
            <a:extLst xmlns:a="http://schemas.openxmlformats.org/drawingml/2006/main">
              <a:ext uri="{FF2B5EF4-FFF2-40B4-BE49-F238E27FC236}">
                <a16:creationId xmlns:a16="http://schemas.microsoft.com/office/drawing/2014/main" id="{5D3E4D96-B42A-4C52-A6B2-A0BDA6F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98488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12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44444"/>
                </a:solidFill>
                <a:latin typeface="Arial"/>
                <a:ea typeface="Arial"/>
                <a:cs typeface="Arial"/>
              </a:rPr>
              <a:t>*Synthetic fixture, 18 inputs missing; no physical-rig result.</a:t>
            </a:r>
          </a:p>
        </p:txBody>
      </p:sp>
      <p:sp>
        <p:nvSpPr>
          <p:cNvPr id="6" name="economic-source-note">
            <a:extLst xmlns:a="http://schemas.openxmlformats.org/drawingml/2006/main">
              <a:ext uri="{FF2B5EF4-FFF2-40B4-BE49-F238E27FC236}">
                <a16:creationId xmlns:a16="http://schemas.microsoft.com/office/drawing/2014/main" id="{68885523-409B-4A26-AAF9-742F57D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848850"/>
            <a:ext cx="3409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44444"/>
                </a:solidFill>
                <a:latin typeface="Arial"/>
                <a:ea typeface="Arial"/>
                <a:cs typeface="Arial"/>
              </a:rPr>
              <a:t>PRD small-batch estimates; recheck vendor prices.</a:t>
            </a:r>
          </a:p>
        </p:txBody>
      </p:sp>
    </p:spTree>
    <p:extLst>
      <p:ext uri="{BB962C8B-B14F-4D97-AF65-F5344CB8AC3E}">
        <p14:creationId xmlns:p14="http://schemas.microsoft.com/office/powerpoint/2010/main" val="1275895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2026-09-28T18:32:30.3030000Z</dcterms:created>
  <dcterms:modified xsi:type="dcterms:W3CDTF">2026-09-28T18:32:30.3030000Z</dcterms:modified>
</coreProperties>
</file>