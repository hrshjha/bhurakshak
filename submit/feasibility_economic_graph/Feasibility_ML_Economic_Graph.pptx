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0a8d09556e4ff8" /><Relationship Type="http://schemas.openxmlformats.org/officeDocument/2006/relationships/extended-properties" Target="/docProps/app.xml" Id="Rf0060cf667ec46e3" /><Relationship Type="http://schemas.openxmlformats.org/officeDocument/2006/relationships/officeDocument" Target="/ppt/presentation.xml" Id="Re3c404eccb9d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2985821544820"/>
  </p:sldMasterIdLst>
  <p:notesMasterIdLst>
    <p:notesMasterId xmlns:r="http://schemas.openxmlformats.org/officeDocument/2006/relationships" r:id="R5d2c9e0a4b3d4a1e"/>
  </p:notesMasterIdLst>
  <p:sldIdLst>
    <p:sldId xmlns:r="http://schemas.openxmlformats.org/officeDocument/2006/relationships" id="256" r:id="R3c0b2f6b223e479e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ea975f09440c7" /><Relationship Type="http://schemas.openxmlformats.org/officeDocument/2006/relationships/slideMaster" Target="/ppt/slideMasters/slideMaster1.xml" Id="Ra4a2985821544820" /><Relationship Type="http://schemas.openxmlformats.org/officeDocument/2006/relationships/notesMaster" Target="/ppt/notesMasters/notesMaster1.xml" Id="R5d2c9e0a4b3d4a1e" /><Relationship Type="http://schemas.openxmlformats.org/officeDocument/2006/relationships/presProps" Target="/ppt/presProps.xml" Id="R70ac3b6ae2b64563" /><Relationship Type="http://schemas.openxmlformats.org/officeDocument/2006/relationships/tableStyles" Target="/ppt/tableStyles.xml" Id="R6082014812544fc2" /><Relationship Type="http://schemas.openxmlformats.org/officeDocument/2006/relationships/slide" Target="/ppt/slides/slide1.xml" Id="R3c0b2f6b223e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f1fbd92a2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c6db22ad94574" /><Relationship Type="http://schemas.openxmlformats.org/officeDocument/2006/relationships/notesMaster" Target="/ppt/notesMasters/notesMaster1.xml" Id="Rcdfb2eafdcb4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ML: reports/final_eval.md and reports/test_lock.json. One locked synthetic holdout (seed 20260929, evals_run=1). Paired values, percent: tuned XGBoost critical recall 9.33, normal false-alarm rate 15.08; default XGBoost 4.57, 3.72; logistic regression 76.50, 62.63; threshold rule 4.16, 1.74. Synthetic corpus only; not a real-mine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 snapshot: 29 Sep 2026, Indian retail listings. Per sensor node: Heltec Wireless Stick V3 with antenna and Li-ion charging/protection ₹2,749 (https://vihaaniotgateway.in/product/heltec-wireless-stick-v3-sx1262-esp32-lora-oled/); MPU-6050 breakout ₹173 (https://robokits.co.in/sensors/accelerometer-and-magnetometer/triple-axis-accelerometer-gyro-mpu-6050-breakout?cPath=72_213); VL53L1X ToF ₹570 (https://www.ktron.in/product/vl53l1x-laser-ranging-module-tof/); vibration switch module ₹42 (https://robokits.co.in/development-board/sensors-compatible-with-arduino); waterproof DS18B20 probe ₹55 (https://robu.in/product-category/sensor-modules/temperature-humidity-sensor/); 18650 2200mAh cell ₹110 (https://robodo.in/products/icr-18650-2200mah-2c-lithium-ion-battery); F4-2 100x68x50mm IP65 ABS box ₹127 (https://robu.in/product-category/workbench-tools-and-kits/). Total ₹3,826/node; six nodes ₹22,956.</a:t>
            </a:r>
          </a:p>
          <a:p xmlns:a="http://schemas.openxmlformats.org/drawingml/2006/main">
            <a:r>
              <a:t>Gateway core: Raspberry Pi 4 Model B 4GB ₹5,649 including GST (https://robu.in/product-category/microcontroller-development-board/raspberry-pi-microcontroller-development-board/official-boards-and-accessories/raspberry-pi-4/) plus Heltec Wireless Stick V3 LoRa board ₹2,749 (same product link), total ₹8,398. Combined priced-parts subtotal ₹31,354. The Pi radio-interface pairing is a costing assumption and has not been built or validated in this project. The subtotal omits Pi storage, power supply, case, cables, wiring, connectors, enclosure adaptations, shipping, labour, field installation, solar/battery backup for the gateway, and commissioning. Retail prices and stock can change; this is an indicative component basket, not an installed system quote or an ROI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e9467a7ee4c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1489a16814f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863d370e14b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a4a8926984e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454ca512c4f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77356c695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5EA37A-8BCF-45C0-8AD8-19DC8F1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CC44EC-D091-4E92-86DB-4237082CD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9467949-F103-4071-8A36-65719D8EC4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32CCB1-BA74-4016-A788-C9ED6F1E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EC51F6-B27D-4ADB-8174-9A5F83F7E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61A1C2D-1862-4BE1-B308-C3B4EFC6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37DF95-3A5E-4360-B5EA-C53433B82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8C593E-4AC8-4526-ACB0-0AB651580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00C491-8754-4981-A726-DD4F9D4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7AD92F-12DF-487F-8A37-2CED1E0E1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0FDF0D-F22F-4E2D-94AF-0A9F3762B9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A8EA65-2B5B-4AD5-927E-34E24B52F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BA1E409-DCEC-430D-AF00-55F034D1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B5C623-4AA2-4EAF-A2C9-4EB05AFD8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4BEBC7-233E-429C-9AD8-935AE8529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91e53193349ff" /><Relationship Type="http://schemas.openxmlformats.org/officeDocument/2006/relationships/slideLayout" Target="/ppt/slideLayouts/slideLayout1.xml" Id="R598fa02763d34b71" /><Relationship Type="http://schemas.openxmlformats.org/officeDocument/2006/relationships/slideLayout" Target="/ppt/slideLayouts/slideLayout2.xml" Id="Raa3e9e031c404ba5" /><Relationship Type="http://schemas.openxmlformats.org/officeDocument/2006/relationships/slideLayout" Target="/ppt/slideLayouts/slideLayout3.xml" Id="R6abf8806de3c43de" /><Relationship Type="http://schemas.openxmlformats.org/officeDocument/2006/relationships/slideLayout" Target="/ppt/slideLayouts/slideLayout4.xml" Id="Rb2942c759a644e58" /><Relationship Type="http://schemas.openxmlformats.org/officeDocument/2006/relationships/slideLayout" Target="/ppt/slideLayouts/slideLayout5.xml" Id="Rc3d2c5a4d02d4a88" /><Relationship Type="http://schemas.openxmlformats.org/officeDocument/2006/relationships/slideLayout" Target="/ppt/slideLayouts/slideLayout6.xml" Id="R10ffdf7665eb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fa02763d34b71"/>
    <p:sldLayoutId xmlns:r="http://schemas.openxmlformats.org/officeDocument/2006/relationships" id="2147483650" r:id="Raa3e9e031c404ba5"/>
    <p:sldLayoutId xmlns:r="http://schemas.openxmlformats.org/officeDocument/2006/relationships" id="2147483651" r:id="R6abf8806de3c43de"/>
    <p:sldLayoutId xmlns:r="http://schemas.openxmlformats.org/officeDocument/2006/relationships" id="2147483652" r:id="Rb2942c759a644e58"/>
    <p:sldLayoutId xmlns:r="http://schemas.openxmlformats.org/officeDocument/2006/relationships" id="2147483653" r:id="Rc3d2c5a4d02d4a88"/>
    <p:sldLayoutId xmlns:r="http://schemas.openxmlformats.org/officeDocument/2006/relationships" id="2147483654" r:id="R10ffdf7665eb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73107eeeb43d8" /><Relationship Type="http://schemas.openxmlformats.org/officeDocument/2006/relationships/image" Target="/ppt/media/image.png" Id="R6704c4e8552d4b79" /><Relationship Type="http://schemas.openxmlformats.org/officeDocument/2006/relationships/chart" Target="/ppt/slides/charts/chart1.xml" Id="Re0be46994d5f4f87" /><Relationship Type="http://schemas.openxmlformats.org/officeDocument/2006/relationships/chart" Target="/ppt/slides/charts/chart2.xml" Id="Re945d3d400c74818" /><Relationship Type="http://schemas.openxmlformats.org/officeDocument/2006/relationships/notesSlide" Target="/ppt/notesSlides/notesSlide1.xml" Id="R217c6585584a48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Locked-test ML trade-off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350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Data'!$A$2:$A$5</c:f>
              <c:strCache>
                <c:ptCount val="4"/>
                <c:pt idx="0">
                  <c:v>Tuned XGB</c:v>
                </c:pt>
                <c:pt idx="1">
                  <c:v>Default XGB</c:v>
                </c:pt>
                <c:pt idx="2">
                  <c:v>Logistic</c:v>
                </c:pt>
                <c:pt idx="3">
                  <c:v>Threshold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9.33</c:v>
                </c:pt>
                <c:pt idx="1">
                  <c:v>4.57</c:v>
                </c:pt>
                <c:pt idx="2">
                  <c:v>76.5</c:v>
                </c:pt>
                <c:pt idx="3">
                  <c:v>4.16</c:v>
                </c:pt>
              </c:numCache>
            </c:numRef>
          </c:val>
        </c:ser>
        <c:ser>
          <c:idx val="1"/>
          <c:order val="1"/>
          <c:tx>
            <c:v>NORMAL false alarms</c:v>
          </c:tx>
          <c:spPr>
            <a:solidFill xmlns:a="http://schemas.openxmlformats.org/drawingml/2006/main">
              <a:srgbClr val="E3A33B"/>
            </a:solidFill>
          </c:spPr>
          <c:cat>
            <c:strRef>
              <c:f>'Chart Data'!$C$2:$C$5</c:f>
              <c:strCache>
                <c:ptCount val="4"/>
                <c:pt idx="0">
                  <c:v>Tuned XGB</c:v>
                </c:pt>
                <c:pt idx="1">
                  <c:v>Default XGB</c:v>
                </c:pt>
                <c:pt idx="2">
                  <c:v>Logistic</c:v>
                </c:pt>
                <c:pt idx="3">
                  <c:v>Threshold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15.08</c:v>
                </c:pt>
                <c:pt idx="1">
                  <c:v>3.72</c:v>
                </c:pt>
                <c:pt idx="2">
                  <c:v>62.63</c:v>
                </c:pt>
                <c:pt idx="3">
                  <c:v>1.74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Priced parts subtotal (₹000)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350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Retail list price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Data'!$A$2:$A$4</c:f>
              <c:strCache>
                <c:ptCount val="3"/>
                <c:pt idx="0">
                  <c:v>6 sensor nodes</c:v>
                </c:pt>
                <c:pt idx="1">
                  <c:v>Gateway core*</c:v>
                </c:pt>
                <c:pt idx="2">
                  <c:v>Parts subtotal*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22.956</c:v>
                </c:pt>
                <c:pt idx="1">
                  <c:v>8.398</c:v>
                </c:pt>
                <c:pt idx="2">
                  <c:v>31.354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c4e8552d4b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white-chart-canvas">
            <a:extLst xmlns:a="http://schemas.openxmlformats.org/drawingml/2006/main">
              <a:ext uri="{FF2B5EF4-FFF2-40B4-BE49-F238E27FC236}">
                <a16:creationId xmlns:a16="http://schemas.microsoft.com/office/drawing/2014/main" id="{055A489B-6C12-4C42-9EC8-F12C7CD1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905625"/>
            <a:ext cx="68389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372350" y="7105650"/>
          <a:ext xmlns:a="http://schemas.openxmlformats.org/drawingml/2006/main" cx="31337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be46994d5f4f87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534650" y="7105650"/>
          <a:ext xmlns:a="http://schemas.openxmlformats.org/drawingml/2006/main" cx="33909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45d3d400c74818"/>
          </a:graphicData>
        </a:graphic>
      </p:graphicFrame>
      <p:sp>
        <p:nvSpPr>
          <p:cNvPr id="5" name="ml-source-note">
            <a:extLst xmlns:a="http://schemas.openxmlformats.org/drawingml/2006/main">
              <a:ext uri="{FF2B5EF4-FFF2-40B4-BE49-F238E27FC236}">
                <a16:creationId xmlns:a16="http://schemas.microsoft.com/office/drawing/2014/main" id="{593C6FAA-7373-4BD1-ADD6-6EC3089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98488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37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44444"/>
                </a:solidFill>
                <a:latin typeface="Arial"/>
                <a:ea typeface="Arial"/>
                <a:cs typeface="Arial"/>
              </a:rPr>
              <a:t>Same locked synthetic holdout; recall vs NORMAL false alarms.</a:t>
            </a:r>
          </a:p>
        </p:txBody>
      </p:sp>
      <p:sp>
        <p:nvSpPr>
          <p:cNvPr id="6" name="economic-source-note">
            <a:extLst xmlns:a="http://schemas.openxmlformats.org/drawingml/2006/main">
              <a:ext uri="{FF2B5EF4-FFF2-40B4-BE49-F238E27FC236}">
                <a16:creationId xmlns:a16="http://schemas.microsoft.com/office/drawing/2014/main" id="{B1413F4A-A917-46D6-9BDE-1393F867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78217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44444"/>
                </a:solidFill>
                <a:latin typeface="Arial"/>
                <a:ea typeface="Arial"/>
                <a:cs typeface="Arial"/>
              </a:rPr>
              <a:t>*₹3,826/node; gateway Pi 4 + LoRa board. Excludes Pi accessories,</a:t>
            </a:r>
          </a:p>
          <a:p xmlns:a="http://schemas.openxmlformats.org/drawingml/2006/main">
            <a:pPr algn="ctr"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44444"/>
                </a:solidFill>
                <a:latin typeface="Arial"/>
                <a:ea typeface="Arial"/>
                <a:cs typeface="Arial"/>
              </a:rPr>
              <a:t>shipping, wiring, field fit &amp; labour. Retail snapshot: 29 Sep 2026.</a:t>
            </a:r>
          </a:p>
        </p:txBody>
      </p:sp>
    </p:spTree>
    <p:extLst>
      <p:ext uri="{BB962C8B-B14F-4D97-AF65-F5344CB8AC3E}">
        <p14:creationId xmlns:p14="http://schemas.microsoft.com/office/powerpoint/2010/main" val="1136107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2026-09-28T18:46:10.0030000Z</dcterms:created>
  <dcterms:modified xsi:type="dcterms:W3CDTF">2026-09-28T18:46:10.0030000Z</dcterms:modified>
</coreProperties>
</file>