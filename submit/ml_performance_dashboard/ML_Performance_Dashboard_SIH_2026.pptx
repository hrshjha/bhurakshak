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charts/chart1.xml" ContentType="application/vnd.openxmlformats-officedocument.drawingml.chart+xml"/>
  <Override PartName="/ppt/notesSlides/notesSlide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7ab54a2cfc744fb" /><Relationship Type="http://schemas.openxmlformats.org/officeDocument/2006/relationships/extended-properties" Target="/docProps/app.xml" Id="R4dea2bf863bf4d44" /><Relationship Type="http://schemas.openxmlformats.org/officeDocument/2006/relationships/officeDocument" Target="/ppt/presentation.xml" Id="Rfd80488e544641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594c18c35274c58"/>
  </p:sldMasterIdLst>
  <p:notesMasterIdLst>
    <p:notesMasterId xmlns:r="http://schemas.openxmlformats.org/officeDocument/2006/relationships" r:id="R24302036cb3c4f61"/>
  </p:notesMasterIdLst>
  <p:sldIdLst>
    <p:sldId xmlns:r="http://schemas.openxmlformats.org/officeDocument/2006/relationships" id="256" r:id="R0219bdb23cf647b6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559ea72b284719" /><Relationship Type="http://schemas.openxmlformats.org/officeDocument/2006/relationships/slideMaster" Target="/ppt/slideMasters/slideMaster1.xml" Id="Rc594c18c35274c58" /><Relationship Type="http://schemas.openxmlformats.org/officeDocument/2006/relationships/notesMaster" Target="/ppt/notesMasters/notesMaster1.xml" Id="R24302036cb3c4f61" /><Relationship Type="http://schemas.openxmlformats.org/officeDocument/2006/relationships/presProps" Target="/ppt/presProps.xml" Id="R0c5489fdfe5147b0" /><Relationship Type="http://schemas.openxmlformats.org/officeDocument/2006/relationships/tableStyles" Target="/ppt/tableStyles.xml" Id="R4345679ecd1c4526" /><Relationship Type="http://schemas.openxmlformats.org/officeDocument/2006/relationships/slide" Target="/ppt/slides/slide1.xml" Id="R0219bdb23cf647b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d35bd77593b4c50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8eac40160cf4e85" /><Relationship Type="http://schemas.openxmlformats.org/officeDocument/2006/relationships/notesMaster" Target="/ppt/notesMasters/notesMaster1.xml" Id="R8d308bd87c0946f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reports/final_eval.json (locked synthetic test risk models and alert engine); reports/tuning/robustness.json (tuned XGBoost workstation CPU p50/p95 latency and sampled RSS). Other model profiling and locked-test calibration were not measured. Display values rounded only.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f88f8cfa864ee3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5eafb717f94eb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76ca587901d4b4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d335871817413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b9ab9127a746b7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db6900673d4fe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C8566C6F-8C25-4466-B607-DB096C8CC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6225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FF0ECB8F-BA39-4D21-97E1-47AAF31D86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238500"/>
            <a:ext cx="121920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4DF1D93B-C0FD-4997-9928-3279213B7EE1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286000" y="4714875"/>
            <a:ext cx="10668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8F22CBF6-C177-48DA-A285-486C6A189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95625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9596B6B-4C5D-4BBE-9328-46479B220F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524000" y="3571875"/>
            <a:ext cx="12192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ADDBEA0-EC60-41D6-ADBB-232BC3FF6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153953E-E9A7-4C80-9904-3DAB4394C3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7B6BC5A8-F098-4A0D-AF57-852796E0E5A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13525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A4CD6E2-AB4E-4CB4-A0CC-2DE4AD85D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AD6F176B-E4F2-4473-A95E-F074CE5E29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04F0E1F-85C0-4FF9-BCEA-0919DB6603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7D4E20E6-C5FA-4257-840D-4CF91B08871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096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D1D577F-7CDC-4D28-8632-9E53D9BC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905000"/>
            <a:ext cx="762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3748EF8A-2922-41E4-B5EA-17510F5AFE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57250" y="666750"/>
            <a:ext cx="13525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0AE7CE1-6018-4B6D-AA75-A4F6EA7EFBF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57250" y="2381250"/>
            <a:ext cx="6286500" cy="53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85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1pPr>
            <a:lvl2pPr marL="666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2pPr>
            <a:lvl3pPr marL="1047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3pPr>
            <a:lvl4pPr marL="1428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4pPr>
            <a:lvl5pPr marL="1809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5pPr>
            <a:lvl6pPr marL="2190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6pPr>
            <a:lvl7pPr marL="2571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7pPr>
            <a:lvl8pPr marL="2952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8pPr>
            <a:lvl9pPr marL="3333750" indent="-285750">
              <a:lnSpc>
                <a:spcPct val="110000"/>
              </a:lnSpc>
              <a:spcBef>
                <a:spcPts val="0"/>
              </a:spcBef>
              <a:spcAft>
                <a:spcPts val="15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ffb601710314703" /><Relationship Type="http://schemas.openxmlformats.org/officeDocument/2006/relationships/slideLayout" Target="/ppt/slideLayouts/slideLayout1.xml" Id="Rf20446bb42ce4b3c" /><Relationship Type="http://schemas.openxmlformats.org/officeDocument/2006/relationships/slideLayout" Target="/ppt/slideLayouts/slideLayout2.xml" Id="Ra723c9a3483c4db5" /><Relationship Type="http://schemas.openxmlformats.org/officeDocument/2006/relationships/slideLayout" Target="/ppt/slideLayouts/slideLayout3.xml" Id="R5ce9195edd3c4c7f" /><Relationship Type="http://schemas.openxmlformats.org/officeDocument/2006/relationships/slideLayout" Target="/ppt/slideLayouts/slideLayout4.xml" Id="Rc26693a2b74f424d" /><Relationship Type="http://schemas.openxmlformats.org/officeDocument/2006/relationships/slideLayout" Target="/ppt/slideLayouts/slideLayout5.xml" Id="Rdb9cf232396d4d53" /><Relationship Type="http://schemas.openxmlformats.org/officeDocument/2006/relationships/slideLayout" Target="/ppt/slideLayouts/slideLayout6.xml" Id="R67dfb11a20b2441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20446bb42ce4b3c"/>
    <p:sldLayoutId xmlns:r="http://schemas.openxmlformats.org/officeDocument/2006/relationships" id="2147483650" r:id="Ra723c9a3483c4db5"/>
    <p:sldLayoutId xmlns:r="http://schemas.openxmlformats.org/officeDocument/2006/relationships" id="2147483651" r:id="R5ce9195edd3c4c7f"/>
    <p:sldLayoutId xmlns:r="http://schemas.openxmlformats.org/officeDocument/2006/relationships" id="2147483652" r:id="Rc26693a2b74f424d"/>
    <p:sldLayoutId xmlns:r="http://schemas.openxmlformats.org/officeDocument/2006/relationships" id="2147483653" r:id="Rdb9cf232396d4d53"/>
    <p:sldLayoutId xmlns:r="http://schemas.openxmlformats.org/officeDocument/2006/relationships" id="2147483654" r:id="R67dfb11a20b2441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44d6aaa9e954368" /><Relationship Type="http://schemas.openxmlformats.org/officeDocument/2006/relationships/chart" Target="/ppt/slides/charts/chart1.xml" Id="Rf92a3f5abe3c4878" /><Relationship Type="http://schemas.openxmlformats.org/officeDocument/2006/relationships/notesSlide" Target="/ppt/notesSlides/notesSlide1.xml" Id="R98f0e1f7092b4538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Critical recall</c:v>
          </c:tx>
          <c:spPr>
            <a:solidFill xmlns:a="http://schemas.openxmlformats.org/drawingml/2006/main">
              <a:srgbClr val="222222"/>
            </a:solidFill>
          </c:spPr>
          <c:cat>
            <c:strRef>
              <c:f>'Chart Data'!$A$2:$A$5</c:f>
              <c:strCache>
                <c:ptCount val="4"/>
                <c:pt idx="0">
                  <c:v>Tuned XGBoost</c:v>
                </c:pt>
                <c:pt idx="1">
                  <c:v>Default XGBoost</c:v>
                </c:pt>
                <c:pt idx="2">
                  <c:v>Logistic Regression</c:v>
                </c:pt>
                <c:pt idx="3">
                  <c:v>Threshold Rule</c:v>
                </c:pt>
              </c:strCache>
            </c:strRef>
          </c:cat>
          <c:val>
            <c:numRef>
              <c:f>'Chart Data'!$B$2:$B$5</c:f>
              <c:numCache>
                <c:formatCode>0.0%</c:formatCode>
                <c:ptCount val="4"/>
                <c:pt idx="0">
                  <c:v>0.093333</c:v>
                </c:pt>
                <c:pt idx="1">
                  <c:v>0.045689</c:v>
                </c:pt>
                <c:pt idx="2">
                  <c:v>0.764978</c:v>
                </c:pt>
                <c:pt idx="3">
                  <c:v>0.0416</c:v>
                </c:pt>
              </c:numCache>
            </c:numRef>
          </c:val>
        </c:ser>
        <c:ser>
          <c:idx val="1"/>
          <c:order val="1"/>
          <c:tx>
            <c:v>Normal false-alarm rate</c:v>
          </c:tx>
          <c:spPr>
            <a:solidFill xmlns:a="http://schemas.openxmlformats.org/drawingml/2006/main">
              <a:srgbClr val="9A9A9A"/>
            </a:solidFill>
          </c:spPr>
          <c:cat>
            <c:strRef>
              <c:f>'Chart Data'!$C$2:$C$5</c:f>
              <c:strCache>
                <c:ptCount val="4"/>
                <c:pt idx="0">
                  <c:v>Tuned XGBoost</c:v>
                </c:pt>
                <c:pt idx="1">
                  <c:v>Default XGBoost</c:v>
                </c:pt>
                <c:pt idx="2">
                  <c:v>Logistic Regression</c:v>
                </c:pt>
                <c:pt idx="3">
                  <c:v>Threshold Rule</c:v>
                </c:pt>
              </c:strCache>
            </c:strRef>
          </c:cat>
          <c:val>
            <c:numRef>
              <c:f>'Chart Data'!$D$2:$D$5</c:f>
              <c:numCache>
                <c:formatCode>0.0%</c:formatCode>
                <c:ptCount val="4"/>
                <c:pt idx="0">
                  <c:v>0.150756</c:v>
                </c:pt>
                <c:pt idx="1">
                  <c:v>0.037156</c:v>
                </c:pt>
                <c:pt idx="2">
                  <c:v>0.626311</c:v>
                </c:pt>
                <c:pt idx="3">
                  <c:v>0.017422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Helvetica Neue"/>
                  <a:ea typeface="Helvetica Neue"/>
                  <a:cs typeface="Helvetica Neue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7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6668">
              <a:solidFill>
                <a:srgbClr val="E4E4E4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171717"/>
              </a:solidFill>
              <a:latin typeface="Helvetica Neue"/>
              <a:ea typeface="Helvetica Neue"/>
              <a:cs typeface="Helvetica Neue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2B97B46-1EAA-42C9-A682-6E8E572F3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1950"/>
            <a:ext cx="1409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ML PERFORMANCE  |  LOCKED SYNTHETIC TEST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9F10B6-E84C-4E61-A0B2-4E3F0122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66775"/>
            <a:ext cx="1409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Technical feasibility · SIH 2026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262206-036F-47FA-8F29-7FCB066C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2001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4FB492-2676-4D25-98F4-E25CB276F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504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CLASSIFIER · TUNED XGBOOST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D8A363-6ED1-4600-A469-D32726D56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09725"/>
            <a:ext cx="2476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9.33%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5615FF-C372-4EA6-969F-7D59A7AF0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762125"/>
            <a:ext cx="295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Critical recall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DF8ED8-7BCC-404F-9D20-BEB514D5D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381125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ALERT ENGINE · SYSTEM LEVEL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E61374F-2B85-4668-B5DE-4D989F1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09725"/>
            <a:ext cx="2571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−3.33 h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7C0E99-F295-4DA8-87CF-C1BF5301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1762125"/>
            <a:ext cx="3476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Median lead time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2A6EB8-3751-4DF3-8DE8-AA2BEF8F9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1907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507C31-BA8C-47E7-B8B8-998CAAA8C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33625"/>
            <a:ext cx="1409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Model comparison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54D277-F512-4C8D-8901-40B5FE0A7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76525"/>
            <a:ext cx="14097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Classification and operational rates from the same locked synthetic test</a:t>
            </a:r>
          </a:p>
        </p:txBody>
      </p:sp>
      <p:graphicFrame>
        <p:nvGraphicFramePr>
          <p:cNvPr id="35" name=""/>
          <p:cNvGraphicFramePr/>
          <p:nvPr/>
        </p:nvGraphicFramePr>
        <p:xfrm>
          <a:off xmlns:a="http://schemas.openxmlformats.org/drawingml/2006/main" x="571500" y="3048000"/>
          <a:ext xmlns:a="http://schemas.openxmlformats.org/drawingml/2006/main" cx="140970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333625"/>
                <a:gridCol w="1619250"/>
                <a:gridCol w="1666875"/>
                <a:gridCol w="1333500"/>
                <a:gridCol w="2143125"/>
                <a:gridCol w="1476375"/>
                <a:gridCol w="1476375"/>
                <a:gridCol w="2047875"/>
              </a:tblGrid>
              <a:tr h="514350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Model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Critical recall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 PR-AUC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Macro F1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Normal false-alarm rate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p50 latency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p95 latency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Sample memory</a:t>
                      </a:r>
                    </a:p>
                  </a:txBody>
                  <a:tcPr marL="95250" marR="85725" marT="76200" marB="66675" anchor="ctr">
                    <a:solidFill>
                      <a:srgbClr val="ECECEC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Tuned XGBoost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9.33%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0.503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0.446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15.08%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0.317 ms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0.613 ms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550.625 MiB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Default XGBoost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4.57%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0.535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0.445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3.72%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Logistic Regression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76.50%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0.469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0.430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62.63%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FFFFF"/>
                    </a:solidFill>
                  </a:tcPr>
                </a:tc>
              </a:tr>
              <a:tr h="466725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Threshold Rule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4.16%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0.415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0.390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1.74%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Not measured</a:t>
                      </a:r>
                    </a:p>
                  </a:txBody>
                  <a:tcPr marL="95250" marR="85725" marT="76200" marB="66675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33A445-FD98-44DF-9B0B-AB072910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657850"/>
            <a:ext cx="723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Critical recall and normal false-alarm rate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1149C-23C7-4A89-AB8A-23F766281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972175"/>
            <a:ext cx="7239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Classifier-level rates · percent of respective class</a:t>
            </a:r>
          </a:p>
        </p:txBody>
      </p:sp>
      <p:graphicFrame>
        <p:nvGraphicFramePr>
          <p:cNvPr id="38" name="Chart"/>
          <p:cNvGraphicFramePr/>
          <p:nvPr/>
        </p:nvGraphicFramePr>
        <p:xfrm>
          <a:off xmlns:a="http://schemas.openxmlformats.org/drawingml/2006/main" x="571500" y="6229350"/>
          <a:ext xmlns:a="http://schemas.openxmlformats.org/drawingml/2006/main" cx="7239000" cy="17335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f92a3f5abe3c4878"/>
          </a:graphicData>
        </a:graphic>
      </p:graphicFrame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A5B719-8BD0-4BAE-8982-346F45450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657850"/>
            <a:ext cx="647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171717"/>
                </a:solidFill>
                <a:latin typeface="Helvetica Neue"/>
                <a:ea typeface="Helvetica Neue"/>
                <a:cs typeface="Helvetica Neue"/>
              </a:rPr>
              <a:t>Alert engine · system level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DF04FF-B34D-47E4-86E6-ABD054460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5972175"/>
            <a:ext cx="6477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Separate from classifier-level rates</a:t>
            </a:r>
          </a:p>
        </p:txBody>
      </p:sp>
      <p:graphicFrame>
        <p:nvGraphicFramePr>
          <p:cNvPr id="41" name=""/>
          <p:cNvGraphicFramePr/>
          <p:nvPr/>
        </p:nvGraphicFramePr>
        <p:xfrm>
          <a:off xmlns:a="http://schemas.openxmlformats.org/drawingml/2006/main" x="8191500" y="6267450"/>
          <a:ext xmlns:a="http://schemas.openxmlformats.org/drawingml/2006/main" cx="6477000" cy="13620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76500"/>
              </a:tblGrid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Median lead time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−3.333 h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P10 lead time</a:t>
                      </a:r>
                    </a:p>
                  </a:txBody>
                  <a:tcPr marL="104775" marR="95250" marT="7620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−11.667 h</a:t>
                      </a:r>
                    </a:p>
                  </a:txBody>
                  <a:tcPr marL="104775" marR="95250" marT="76200" marB="5715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False alerts per normal event-day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>
                          <a:solidFill>
                            <a:srgbClr val="171717"/>
                          </a:solidFill>
                          <a:latin typeface="Helvetica Neue"/>
                          <a:ea typeface="Helvetica Neue"/>
                          <a:cs typeface="Helvetica Neue"/>
                        </a:rPr>
                        <a:t>0.046 episodes/day</a:t>
                      </a:r>
                    </a:p>
                  </a:txBody>
                  <a:tcPr marL="104775" marR="95250" marT="76200" marB="57150" anchor="ctr">
                    <a:solidFill>
                      <a:srgbClr val="F5F5F5"/>
                    </a:solidFill>
                  </a:tcPr>
                </a:tc>
              </a:tr>
            </a:tbl>
          </a:graphicData>
        </a:graphic>
      </p:graphicFrame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CB4BB7-99B7-4AD4-A091-4214E06B6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096250"/>
            <a:ext cx="14097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9C9C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5A15C6-1C9B-42C2-B3BD-FB23CE13B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8153400"/>
            <a:ext cx="7000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1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CALIBRATION  ·  Locked-test calibration: Not measured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010458-0033-4B0B-87AB-8E29D54B8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8153400"/>
            <a:ext cx="800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 b="0">
                <a:solidFill>
                  <a:srgbClr val="4C4C4C"/>
                </a:solidFill>
                <a:latin typeface="Helvetica Neue"/>
                <a:ea typeface="Helvetica Neue"/>
                <a:cs typeface="Helvetica Neue"/>
              </a:rPr>
              <a:t>Synthetic evaluation only. Useful early-warning performance and real-mine transfer remain unverified.</a:t>
            </a:r>
          </a:p>
        </p:txBody>
      </p:sp>
    </p:spTree>
    <p:extLst>
      <p:ext uri="{BB962C8B-B14F-4D97-AF65-F5344CB8AC3E}">
        <p14:creationId xmlns:p14="http://schemas.microsoft.com/office/powerpoint/2010/main" val="41539198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2026-09-29T14:14:06.0510000Z</dcterms:created>
  <dcterms:modified xsi:type="dcterms:W3CDTF">2026-09-29T14:14:06.0510000Z</dcterms:modified>
</coreProperties>
</file>