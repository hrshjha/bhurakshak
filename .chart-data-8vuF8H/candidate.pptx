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ca4d7aa2de48d0" /><Relationship Type="http://schemas.openxmlformats.org/officeDocument/2006/relationships/extended-properties" Target="/docProps/app.xml" Id="R7e9ea5945c534c11" /><Relationship Type="http://schemas.openxmlformats.org/officeDocument/2006/relationships/officeDocument" Target="/ppt/presentation.xml" Id="Rdc45f7b7f5294f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fe55b1f6b24d6a"/>
  </p:sldMasterIdLst>
  <p:notesMasterIdLst>
    <p:notesMasterId xmlns:r="http://schemas.openxmlformats.org/officeDocument/2006/relationships" r:id="R592290bb0b5849a1"/>
  </p:notesMasterIdLst>
  <p:sldIdLst>
    <p:sldId xmlns:r="http://schemas.openxmlformats.org/officeDocument/2006/relationships" id="256" r:id="R32ad8987bfa44987"/>
  </p:sldIdLst>
  <p:sldSz cx="18707100" cy="10477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a6b24d618d4a00" /><Relationship Type="http://schemas.openxmlformats.org/officeDocument/2006/relationships/slideMaster" Target="/ppt/slideMasters/slideMaster1.xml" Id="Rfcfe55b1f6b24d6a" /><Relationship Type="http://schemas.openxmlformats.org/officeDocument/2006/relationships/notesMaster" Target="/ppt/notesMasters/notesMaster1.xml" Id="R592290bb0b5849a1" /><Relationship Type="http://schemas.openxmlformats.org/officeDocument/2006/relationships/presProps" Target="/ppt/presProps.xml" Id="Re20157acd38c491e" /><Relationship Type="http://schemas.openxmlformats.org/officeDocument/2006/relationships/tableStyles" Target="/ppt/tableStyles.xml" Id="R6f815edc7b484765" /><Relationship Type="http://schemas.openxmlformats.org/officeDocument/2006/relationships/slide" Target="/ppt/slides/slide1.xml" Id="R32ad8987bfa449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b0a92f701e43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335e5d023549f3" /><Relationship Type="http://schemas.openxmlformats.org/officeDocument/2006/relationships/notesMaster" Target="/ppt/notesMasters/notesMaster1.xml" Id="R96d6ea2c370644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ML data source: reports/final_eval.md (one-time locked synthetic held-out evaluation; tuned XGBoost CRITICAL recall 0.0933) and reports/domain_gap.md (seeded synthetic tabletop stand-in, frozen model without retraining; CRITICAL recall 0.0000; 18 inputs absent; not a physical rig). Economic source: prd.md §8.1, rough India small-batch estimates: per-node ₹2,600–4,600, gateway ₹8,500–13,500, six-node plus gateway prototype ₹24,000–40,000. The total is a separate prototype estimate and must not be added to the component estimates.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af8a298c9c46d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fc7cfa871e4c5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f1ab1c6412469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b63ba75e82472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c1ad132a664d3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1622e307c649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BE14B32-F4DE-4305-824C-1D7FD80E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5873" y="3376083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63C8AE-508F-4021-B45E-4F1BDD2258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70710" y="3958167"/>
            <a:ext cx="14965680" cy="15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E5023F1-2C77-4B92-90EE-551AC73394C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806065" y="5762625"/>
            <a:ext cx="13094970" cy="1164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72D48C4-E433-4656-9573-0DEEE61D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5873" y="3783542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E5F5701-394E-4BAD-8079-626DDF3CF4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70710" y="4365625"/>
            <a:ext cx="14965680" cy="174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1BEF84C-F289-4B1A-A87C-6B2DFA6E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74" y="2328333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02A3BD5-5CE6-407A-9BAF-D684485E42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52274" y="814917"/>
            <a:ext cx="16602551" cy="1280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C55FC342-8701-41CF-82EE-1E58CA2783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52274" y="2910417"/>
            <a:ext cx="16602551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4241CC7-2072-402D-9826-82C03661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74" y="2328333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8CB7585-0809-49B9-BE5A-B856A52B82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52274" y="814917"/>
            <a:ext cx="16602551" cy="1280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173ACE3-979D-427B-9BDC-D1AFD293CA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52274" y="2910417"/>
            <a:ext cx="7716679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D3CB55B-8C6C-4F09-A8A8-714FAF544E3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938147" y="2910417"/>
            <a:ext cx="7716679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A1C66A9-18C1-4B94-BDD3-FA0CB914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74" y="2328333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BCAEA12-978B-452C-AA7D-0B4444D182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52274" y="814917"/>
            <a:ext cx="16602551" cy="1280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24D1C91-9947-4A98-B151-BE02D2E601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52274" y="2910417"/>
            <a:ext cx="7716679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d602a485b14b4e" /><Relationship Type="http://schemas.openxmlformats.org/officeDocument/2006/relationships/slideLayout" Target="/ppt/slideLayouts/slideLayout1.xml" Id="R6f1113743ca749d0" /><Relationship Type="http://schemas.openxmlformats.org/officeDocument/2006/relationships/slideLayout" Target="/ppt/slideLayouts/slideLayout2.xml" Id="Rfe6a25ac93454f01" /><Relationship Type="http://schemas.openxmlformats.org/officeDocument/2006/relationships/slideLayout" Target="/ppt/slideLayouts/slideLayout3.xml" Id="Rabe6b6e52180422d" /><Relationship Type="http://schemas.openxmlformats.org/officeDocument/2006/relationships/slideLayout" Target="/ppt/slideLayouts/slideLayout4.xml" Id="R3b9927c0f6be4996" /><Relationship Type="http://schemas.openxmlformats.org/officeDocument/2006/relationships/slideLayout" Target="/ppt/slideLayouts/slideLayout5.xml" Id="R39575e5b97054cb7" /><Relationship Type="http://schemas.openxmlformats.org/officeDocument/2006/relationships/slideLayout" Target="/ppt/slideLayouts/slideLayout6.xml" Id="R61f9ac5c106940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1113743ca749d0"/>
    <p:sldLayoutId xmlns:r="http://schemas.openxmlformats.org/officeDocument/2006/relationships" id="2147483650" r:id="Rfe6a25ac93454f01"/>
    <p:sldLayoutId xmlns:r="http://schemas.openxmlformats.org/officeDocument/2006/relationships" id="2147483651" r:id="Rabe6b6e52180422d"/>
    <p:sldLayoutId xmlns:r="http://schemas.openxmlformats.org/officeDocument/2006/relationships" id="2147483652" r:id="R3b9927c0f6be4996"/>
    <p:sldLayoutId xmlns:r="http://schemas.openxmlformats.org/officeDocument/2006/relationships" id="2147483653" r:id="R39575e5b97054cb7"/>
    <p:sldLayoutId xmlns:r="http://schemas.openxmlformats.org/officeDocument/2006/relationships" id="2147483654" r:id="R61f9ac5c106940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a0668e55194db8" /><Relationship Type="http://schemas.openxmlformats.org/officeDocument/2006/relationships/image" Target="/ppt/media/image.png" Id="Rdb2fe5516b764dbf" /><Relationship Type="http://schemas.openxmlformats.org/officeDocument/2006/relationships/chart" Target="/ppt/slides/charts/chart1.xml" Id="R0a2e47957d124301" /><Relationship Type="http://schemas.openxmlformats.org/officeDocument/2006/relationships/chart" Target="/ppt/slides/charts/chart2.xml" Id="R26ef169c0a4740cf" /><Relationship Type="http://schemas.openxmlformats.org/officeDocument/2006/relationships/notesSlide" Target="/ppt/notesSlides/notesSlide1.xml" Id="R2b39eafbaa2f432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F6F37"/>
                </a:solidFill>
                <a:latin typeface="Arial"/>
                <a:ea typeface="Arial"/>
                <a:cs typeface="Arial"/>
              </a:rPr>
              <a:t>CRITICAL recall (%)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 algn="ctr">
            <a:defRPr sz="1575" b="1">
              <a:solidFill>
                <a:srgbClr val="1F6F37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XGBoost</c:v>
          </c:tx>
          <c:spPr>
            <a:solidFill xmlns:a="http://schemas.openxmlformats.org/drawingml/2006/main">
              <a:srgbClr val="2D8A4B"/>
            </a:solidFill>
          </c:spPr>
          <c:cat>
            <c:strRef>
              <c:f>'Chart Data'!$A$2:$A$3</c:f>
              <c:strCache>
                <c:ptCount val="2"/>
                <c:pt idx="0">
                  <c:v>Synthetic test</c:v>
                </c:pt>
                <c:pt idx="1">
                  <c:v>Stand-in*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9.33</c:v>
                </c:pt>
                <c:pt idx="1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A1A1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77777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ADADA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77777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F6F37"/>
                </a:solidFill>
                <a:latin typeface="Arial"/>
                <a:ea typeface="Arial"/>
                <a:cs typeface="Arial"/>
              </a:rPr>
              <a:t>Estimated cost (₹000s)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 algn="ctr">
            <a:defRPr sz="1575" b="1">
              <a:solidFill>
                <a:srgbClr val="1F6F37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Low</c:v>
          </c:tx>
          <c:spPr>
            <a:solidFill xmlns:a="http://schemas.openxmlformats.org/drawingml/2006/main">
              <a:srgbClr val="83C993"/>
            </a:solidFill>
          </c:spPr>
          <c:cat>
            <c:strRef>
              <c:f>'Chart Data'!$A$2:$A$4</c:f>
              <c:strCache>
                <c:ptCount val="3"/>
                <c:pt idx="0">
                  <c:v>Node</c:v>
                </c:pt>
                <c:pt idx="1">
                  <c:v>Gateway</c:v>
                </c:pt>
                <c:pt idx="2">
                  <c:v>6 nodes + gateway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2.6</c:v>
                </c:pt>
                <c:pt idx="1">
                  <c:v>8.5</c:v>
                </c:pt>
                <c:pt idx="2">
                  <c:v>24</c:v>
                </c:pt>
              </c:numCache>
            </c:numRef>
          </c:val>
        </c:ser>
        <c:ser>
          <c:idx val="1"/>
          <c:order val="1"/>
          <c:tx>
            <c:v>High</c:v>
          </c:tx>
          <c:spPr>
            <a:solidFill xmlns:a="http://schemas.openxmlformats.org/drawingml/2006/main">
              <a:srgbClr val="287C43"/>
            </a:solidFill>
          </c:spPr>
          <c:cat>
            <c:strRef>
              <c:f>'Chart Data'!$C$2:$C$4</c:f>
              <c:strCache>
                <c:ptCount val="3"/>
                <c:pt idx="0">
                  <c:v>Node</c:v>
                </c:pt>
                <c:pt idx="1">
                  <c:v>Gateway</c:v>
                </c:pt>
                <c:pt idx="2">
                  <c:v>6 nodes + gateway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4.6</c:v>
                </c:pt>
                <c:pt idx="1">
                  <c:v>13.5</c:v>
                </c:pt>
                <c:pt idx="2">
                  <c:v>40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A1A1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ADADA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77777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22222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2fe5516b764db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707100" cy="10477500"/>
          </a:xfrm>
          <a:prstGeom xmlns:a="http://schemas.openxmlformats.org/drawingml/2006/main" prst="rect">
            <a:avLst/>
          </a:prstGeom>
        </p:spPr>
      </p:pic>
      <p:sp>
        <p:nvSpPr>
          <p:cNvPr id="2" name="white-chart-canvas">
            <a:extLst xmlns:a="http://schemas.openxmlformats.org/drawingml/2006/main">
              <a:ext uri="{FF2B5EF4-FFF2-40B4-BE49-F238E27FC236}">
                <a16:creationId xmlns:a16="http://schemas.microsoft.com/office/drawing/2014/main" id="{6CF7DC66-DCF8-4637-8325-9B833E5D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6905625"/>
            <a:ext cx="683895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7372350" y="7105650"/>
          <a:ext xmlns:a="http://schemas.openxmlformats.org/drawingml/2006/main" cx="3133725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a2e47957d124301"/>
          </a:graphicData>
        </a:graphic>
      </p:graphicFrame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10534650" y="7105650"/>
          <a:ext xmlns:a="http://schemas.openxmlformats.org/drawingml/2006/main" cx="3390900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6ef169c0a4740cf"/>
          </a:graphicData>
        </a:graphic>
      </p:graphicFrame>
      <p:sp>
        <p:nvSpPr>
          <p:cNvPr id="5" name="ml-source-note">
            <a:extLst xmlns:a="http://schemas.openxmlformats.org/drawingml/2006/main">
              <a:ext uri="{FF2B5EF4-FFF2-40B4-BE49-F238E27FC236}">
                <a16:creationId xmlns:a16="http://schemas.microsoft.com/office/drawing/2014/main" id="{5402E545-3B6F-4FB0-826E-A1DF2FAA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9848850"/>
            <a:ext cx="3171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612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444444"/>
                </a:solidFill>
                <a:latin typeface="Arial"/>
                <a:ea typeface="Arial"/>
                <a:cs typeface="Arial"/>
              </a:rPr>
              <a:t>*Synthetic fixture, 18 inputs missing; no physical-rig result.</a:t>
            </a:r>
          </a:p>
        </p:txBody>
      </p:sp>
      <p:sp>
        <p:nvSpPr>
          <p:cNvPr id="6" name="economic-source-note">
            <a:extLst xmlns:a="http://schemas.openxmlformats.org/drawingml/2006/main">
              <a:ext uri="{FF2B5EF4-FFF2-40B4-BE49-F238E27FC236}">
                <a16:creationId xmlns:a16="http://schemas.microsoft.com/office/drawing/2014/main" id="{F77C979E-B5F7-4222-BDDD-1484D438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9848850"/>
            <a:ext cx="3409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444444"/>
                </a:solidFill>
                <a:latin typeface="Arial"/>
                <a:ea typeface="Arial"/>
                <a:cs typeface="Arial"/>
              </a:rPr>
              <a:t>PRD small-batch estimates; recheck vendor prices.</a:t>
            </a:r>
          </a:p>
        </p:txBody>
      </p:sp>
    </p:spTree>
    <p:extLst>
      <p:ext uri="{BB962C8B-B14F-4D97-AF65-F5344CB8AC3E}">
        <p14:creationId xmlns:p14="http://schemas.microsoft.com/office/powerpoint/2010/main" val="18661003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2026-09-28T18:32:40.8300000Z</dcterms:created>
  <dcterms:modified xsi:type="dcterms:W3CDTF">2026-09-28T18:32:40.8300000Z</dcterms:modified>
</coreProperties>
</file>