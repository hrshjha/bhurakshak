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4ae694e7114940" /><Relationship Type="http://schemas.openxmlformats.org/officeDocument/2006/relationships/extended-properties" Target="/docProps/app.xml" Id="Rdbf36c9fc04a4bab" /><Relationship Type="http://schemas.openxmlformats.org/officeDocument/2006/relationships/officeDocument" Target="/ppt/presentation.xml" Id="Rdb53c151df814b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be8493e5094c08"/>
  </p:sldMasterIdLst>
  <p:notesMasterIdLst>
    <p:notesMasterId xmlns:r="http://schemas.openxmlformats.org/officeDocument/2006/relationships" r:id="R947291711a50435d"/>
  </p:notesMasterIdLst>
  <p:sldIdLst>
    <p:sldId xmlns:r="http://schemas.openxmlformats.org/officeDocument/2006/relationships" id="256" r:id="R3c405dd30edc40f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b746db7b93485f" /><Relationship Type="http://schemas.openxmlformats.org/officeDocument/2006/relationships/slideMaster" Target="/ppt/slideMasters/slideMaster1.xml" Id="Rc2be8493e5094c08" /><Relationship Type="http://schemas.openxmlformats.org/officeDocument/2006/relationships/notesMaster" Target="/ppt/notesMasters/notesMaster1.xml" Id="R947291711a50435d" /><Relationship Type="http://schemas.openxmlformats.org/officeDocument/2006/relationships/presProps" Target="/ppt/presProps.xml" Id="R999aca8a40684032" /><Relationship Type="http://schemas.openxmlformats.org/officeDocument/2006/relationships/tableStyles" Target="/ppt/tableStyles.xml" Id="Re379cc7834234737" /><Relationship Type="http://schemas.openxmlformats.org/officeDocument/2006/relationships/slide" Target="/ppt/slides/slide1.xml" Id="R3c405dd30edc40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8ea4a184204d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70090971714460" /><Relationship Type="http://schemas.openxmlformats.org/officeDocument/2006/relationships/notesMaster" Target="/ppt/notesMasters/notesMaster1.xml" Id="Rc05916501eee47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reports/final_eval.json (locked synthetic test risk models and alert engine); reports/tuning/robustness.json (tuned XGBoost workstation CPU p50/p95 latency and sampled RSS). Other model profiling and locked-test calibration were not measured. Display values rounded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5c305082743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26a3277e2b49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5b908a7eb49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351cc777543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bfe00eec242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467615ddc745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AF1E471-CEF1-46C5-AC4F-A67B3E46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0E73D4-3307-4D43-88A5-EDD2A5A05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B34BE88-D407-459D-A327-E975E41E70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24BF859-915A-453F-9828-6FBD59BF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9DCBEE-9322-40FF-813E-DEF1E45B3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0150749-D77C-40A6-8894-17165A1F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D2856F-A1B5-41E6-837A-4A05FEE912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F79E5FB-34EC-495D-B0D1-1488325DB9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55B785F-B607-4846-8DE5-75339187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4FDA501-97CC-4792-911E-C94710E4D8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E90256-5C70-4CB6-B3D2-446D0BE0EF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E66554-A60D-42B0-8552-07905A1D86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9A5099B-B133-4492-B80D-AEC47B78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5B769B0-6C39-4540-8B5C-20E3532C6C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096703-CD29-406D-9636-A5D298C60D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96696a65894a0b" /><Relationship Type="http://schemas.openxmlformats.org/officeDocument/2006/relationships/slideLayout" Target="/ppt/slideLayouts/slideLayout1.xml" Id="R8fe925c5f1b14caa" /><Relationship Type="http://schemas.openxmlformats.org/officeDocument/2006/relationships/slideLayout" Target="/ppt/slideLayouts/slideLayout2.xml" Id="R7ec44acd92384c2b" /><Relationship Type="http://schemas.openxmlformats.org/officeDocument/2006/relationships/slideLayout" Target="/ppt/slideLayouts/slideLayout3.xml" Id="R905b1da8577943a0" /><Relationship Type="http://schemas.openxmlformats.org/officeDocument/2006/relationships/slideLayout" Target="/ppt/slideLayouts/slideLayout4.xml" Id="R47d015773ead4818" /><Relationship Type="http://schemas.openxmlformats.org/officeDocument/2006/relationships/slideLayout" Target="/ppt/slideLayouts/slideLayout5.xml" Id="Rb90f8fdaa1a2400f" /><Relationship Type="http://schemas.openxmlformats.org/officeDocument/2006/relationships/slideLayout" Target="/ppt/slideLayouts/slideLayout6.xml" Id="Ra3c39c1cdefe44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e925c5f1b14caa"/>
    <p:sldLayoutId xmlns:r="http://schemas.openxmlformats.org/officeDocument/2006/relationships" id="2147483650" r:id="R7ec44acd92384c2b"/>
    <p:sldLayoutId xmlns:r="http://schemas.openxmlformats.org/officeDocument/2006/relationships" id="2147483651" r:id="R905b1da8577943a0"/>
    <p:sldLayoutId xmlns:r="http://schemas.openxmlformats.org/officeDocument/2006/relationships" id="2147483652" r:id="R47d015773ead4818"/>
    <p:sldLayoutId xmlns:r="http://schemas.openxmlformats.org/officeDocument/2006/relationships" id="2147483653" r:id="Rb90f8fdaa1a2400f"/>
    <p:sldLayoutId xmlns:r="http://schemas.openxmlformats.org/officeDocument/2006/relationships" id="2147483654" r:id="Ra3c39c1cdefe44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cd8fad1204b16" /><Relationship Type="http://schemas.openxmlformats.org/officeDocument/2006/relationships/chart" Target="/ppt/slides/charts/chart1.xml" Id="R27c6955eeec64548" /><Relationship Type="http://schemas.openxmlformats.org/officeDocument/2006/relationships/notesSlide" Target="/ppt/notesSlides/notesSlide1.xml" Id="Rd42a1f670c8b432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Critical recall</c:v>
          </c:tx>
          <c:spPr>
            <a:solidFill xmlns:a="http://schemas.openxmlformats.org/drawingml/2006/main">
              <a:srgbClr val="222222"/>
            </a:solidFill>
          </c:spPr>
          <c:cat>
            <c:strRef>
              <c:f>'Chart Data'!$A$2:$A$5</c:f>
              <c:strCache>
                <c:ptCount val="4"/>
                <c:pt idx="0">
                  <c:v>Tuned XGBoost</c:v>
                </c:pt>
                <c:pt idx="1">
                  <c:v>Default XGBoost</c:v>
                </c:pt>
                <c:pt idx="2">
                  <c:v>Logistic Regression</c:v>
                </c:pt>
                <c:pt idx="3">
                  <c:v>Threshold Rule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0.093333</c:v>
                </c:pt>
                <c:pt idx="1">
                  <c:v>0.045689</c:v>
                </c:pt>
                <c:pt idx="2">
                  <c:v>0.764978</c:v>
                </c:pt>
                <c:pt idx="3">
                  <c:v>0.0416</c:v>
                </c:pt>
              </c:numCache>
            </c:numRef>
          </c:val>
        </c:ser>
        <c:ser>
          <c:idx val="1"/>
          <c:order val="1"/>
          <c:tx>
            <c:v>Normal false-alarm rate</c:v>
          </c:tx>
          <c:spPr>
            <a:solidFill xmlns:a="http://schemas.openxmlformats.org/drawingml/2006/main">
              <a:srgbClr val="9A9A9A"/>
            </a:solidFill>
          </c:spPr>
          <c:cat>
            <c:strRef>
              <c:f>'Chart Data'!$C$2:$C$5</c:f>
              <c:strCache>
                <c:ptCount val="4"/>
                <c:pt idx="0">
                  <c:v>Tuned XGBoost</c:v>
                </c:pt>
                <c:pt idx="1">
                  <c:v>Default XGBoost</c:v>
                </c:pt>
                <c:pt idx="2">
                  <c:v>Logistic Regression</c:v>
                </c:pt>
                <c:pt idx="3">
                  <c:v>Threshold Rule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0.150756</c:v>
                </c:pt>
                <c:pt idx="1">
                  <c:v>0.037156</c:v>
                </c:pt>
                <c:pt idx="2">
                  <c:v>0.626311</c:v>
                </c:pt>
                <c:pt idx="3">
                  <c:v>0.017422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4E4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1717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DB30C4-3519-428B-A2EC-0C73A26E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ML PERFORMANCE  |  LOCKED SYNTHETIC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FE804-9791-4A07-ADC8-61CD1C57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409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Technical feasibility · SIH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E60B1-1A69-409F-84E3-1FB6EA1A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5F655-3C96-43D4-BC17-4662579E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CLASSIFIER · TUNED XGBOOST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D3B80-1DA7-433E-ADFA-DFB7ECEA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9.33%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FC974-262D-4397-A8F8-5D15B66A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Critical recall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4B341-69CF-43D5-8930-E80B0510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ALERT ENGINE · SYSTEM LEVEL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7B0C3-D4A5-4023-8202-284A8BEB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0972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−3.33 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52220-76A2-4751-B4D0-822238B1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762125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Median lead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13F12-ACF6-400F-AE99-4B0EDCE0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0E2E2-3BA3-468F-97F7-28AE0188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409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Model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65440-6BB4-4205-BA44-701971FC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409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Classification and operational rates from the same locked synthetic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CFC11-E3C7-4DFE-807B-E5062343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14650"/>
            <a:ext cx="4619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F6BD0-A212-4031-8421-D3704B97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2143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OPERATIONAL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C524C-14F6-4FCF-8D0B-218DED3E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14650"/>
            <a:ext cx="5000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COMPUTATIONAL · WORKSTATION CPU / SAMPLED RSS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3143250"/>
          <a:ext xmlns:a="http://schemas.openxmlformats.org/drawingml/2006/main" cx="140970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1619250"/>
                <a:gridCol w="1666875"/>
                <a:gridCol w="1333500"/>
                <a:gridCol w="2143125"/>
                <a:gridCol w="1476375"/>
                <a:gridCol w="1476375"/>
                <a:gridCol w="2047875"/>
              </a:tblGrid>
              <a:tr h="514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Critical recall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Macro PR-AUC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Macro F1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false-alarm rate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p50 latency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p95 latency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Sample memory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Tuned XGBoost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9.33%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0.503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0.446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15.08%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0.317 ms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0.613 ms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550.625 MiB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Default XGBoost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4.57%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0.535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0.445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3.72%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Regression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76.50%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0.469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0.430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62.63%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Threshold Rule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4.16%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0.415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0.390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1.74%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B51B8-8096-4D0F-B2BD-AA9109D1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Critical recall and normal false-alarm 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065DB-E2D9-413F-BFE3-34C588DD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Classifier-level rates · percent of respective class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571500" y="6229350"/>
          <a:ext xmlns:a="http://schemas.openxmlformats.org/drawingml/2006/main" cx="7239000" cy="1733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c6955eeec64548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90CD3-2434-40FB-8770-E2DEDA93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578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Alert engine · system level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9F19B-E26E-4EE1-ABC7-771E42B1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972175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Separate from classifier-level rates</a:t>
            </a:r>
          </a:p>
        </p:txBody>
      </p:sp>
      <p:graphicFrame>
        <p:nvGraphicFramePr>
          <p:cNvPr id="47" name=""/>
          <p:cNvGraphicFramePr/>
          <p:nvPr/>
        </p:nvGraphicFramePr>
        <p:xfrm>
          <a:off xmlns:a="http://schemas.openxmlformats.org/drawingml/2006/main" x="8191500" y="6267450"/>
          <a:ext xmlns:a="http://schemas.openxmlformats.org/drawingml/2006/main" cx="6477000" cy="1362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76500"/>
              </a:tblGrid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Median lead time</a:t>
                      </a:r>
                    </a:p>
                  </a:txBody>
                  <a:tcPr marL="104775" marR="95250" marT="76200" marB="571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−3.333 h</a:t>
                      </a:r>
                    </a:p>
                  </a:txBody>
                  <a:tcPr marL="104775" marR="95250" marT="76200" marB="57150" anchor="ctr">
                    <a:solidFill>
                      <a:srgbClr val="F5F5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P10 lead time</a:t>
                      </a:r>
                    </a:p>
                  </a:txBody>
                  <a:tcPr marL="104775" marR="952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−11.667 h</a:t>
                      </a:r>
                    </a:p>
                  </a:txBody>
                  <a:tcPr marL="104775" marR="95250" marT="76200" marB="5715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False alerts per normal event-day</a:t>
                      </a:r>
                    </a:p>
                  </a:txBody>
                  <a:tcPr marL="104775" marR="95250" marT="76200" marB="571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0.046 episodes/day</a:t>
                      </a:r>
                    </a:p>
                  </a:txBody>
                  <a:tcPr marL="104775" marR="95250" marT="76200" marB="5715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19829-B440-48B5-92A7-4B0955F0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24433C-76CE-4F9E-A2FA-30F5B3CE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700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CALIBRATION  ·  Locked-test calibration: Not measured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22AF5F-8FF0-4856-BD36-741E48CC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1534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Synthetic evaluation only. Useful early-warning performance and real-mine transfer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1491540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2026-09-29T14:15:06.7040000Z</dcterms:created>
  <dcterms:modified xsi:type="dcterms:W3CDTF">2026-09-29T14:15:06.7040000Z</dcterms:modified>
</coreProperties>
</file>