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0812fbc3a42e3" /><Relationship Type="http://schemas.openxmlformats.org/officeDocument/2006/relationships/extended-properties" Target="/docProps/app.xml" Id="R68780bdbbe6a4929" /><Relationship Type="http://schemas.openxmlformats.org/officeDocument/2006/relationships/officeDocument" Target="/ppt/presentation.xml" Id="R15ee9de47aed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66c82126794d91"/>
  </p:sldMasterIdLst>
  <p:notesMasterIdLst>
    <p:notesMasterId xmlns:r="http://schemas.openxmlformats.org/officeDocument/2006/relationships" r:id="Rb99e5ceed5cc4217"/>
  </p:notesMasterIdLst>
  <p:sldIdLst>
    <p:sldId xmlns:r="http://schemas.openxmlformats.org/officeDocument/2006/relationships" id="256" r:id="Re311834f1cb34488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fc85bf633431a" /><Relationship Type="http://schemas.openxmlformats.org/officeDocument/2006/relationships/slideMaster" Target="/ppt/slideMasters/slideMaster1.xml" Id="R3e66c82126794d91" /><Relationship Type="http://schemas.openxmlformats.org/officeDocument/2006/relationships/notesMaster" Target="/ppt/notesMasters/notesMaster1.xml" Id="Rb99e5ceed5cc4217" /><Relationship Type="http://schemas.openxmlformats.org/officeDocument/2006/relationships/presProps" Target="/ppt/presProps.xml" Id="Ref6d35acbf494913" /><Relationship Type="http://schemas.openxmlformats.org/officeDocument/2006/relationships/tableStyles" Target="/ppt/tableStyles.xml" Id="R35db16e468a349f6" /><Relationship Type="http://schemas.openxmlformats.org/officeDocument/2006/relationships/slide" Target="/ppt/slides/slide1.xml" Id="Re311834f1cb3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087f2cfcd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811ee583d4520" /><Relationship Type="http://schemas.openxmlformats.org/officeDocument/2006/relationships/notesMaster" Target="/ppt/notesMasters/notesMaster1.xml" Id="Rbb531a8f091b4f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reports/final_eval.md and reports/test_lock.json. One-time locked evaluation of the synthetic held-out corpus, seed 20260929, evals_run=1. Scatter plot x=normal false-alarm rate (%), y=CRITICAL recall (%): tuned XGBoost (15.08, 9.33); default XGBoost (3.72, 4.57); logistic regression (62.63, 76.50); threshold rule (1.74, 4.16). Headline delta is tuned XGBoost vs default XGBoost: +4.76 percentage points CRITICAL recall, and +11.36 percentage points NORMAL false-alarm rate. End-to-end alert figures, same locked evaluation: median lead time -3.3334 hours and 0.0460798 false-alert episodes per normal event day. reports/acceptance_criteria.md explicitly states no early-warning success claim is supported; physical tabletop and real-mine validation are absent. All outcomes are synthetic-test results, not evidence of realized field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bbf51cab74b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09b04bb8646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77b517c244b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8f97e82c14d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2391567b842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5a74111ed42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09056E4-88B3-4870-9CEA-B46D96A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61F27C-DF2B-4685-A5DC-1A1AA2328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66DB601-AF60-40DF-B289-B540B3497D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B5A082E-2094-435E-9636-851E3FE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4572B0-1526-4BF7-B6FD-8FEE8111D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4B0FB2-4571-4153-A998-40521D74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A346DC-9F59-4AEE-8B04-436CEFC9A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DD21C34-2A17-4EFB-8196-02C19619D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4547748-E881-41D3-AD5D-E633DCF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8CC077-D426-4410-89D0-2E3C68135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925288-478F-44F9-AFB9-A73FF24231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22AC66-C679-4DBC-B7F4-1CADA3215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8AD6F7-0CEC-426E-A655-25E6429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71BFFB-DCCB-43E3-A663-8A12D74C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96C233-828A-4185-919F-93F4788850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a85702c41a4a80" /><Relationship Type="http://schemas.openxmlformats.org/officeDocument/2006/relationships/slideLayout" Target="/ppt/slideLayouts/slideLayout1.xml" Id="R7f54cb549cf84df2" /><Relationship Type="http://schemas.openxmlformats.org/officeDocument/2006/relationships/slideLayout" Target="/ppt/slideLayouts/slideLayout2.xml" Id="R6ae238cd77644d15" /><Relationship Type="http://schemas.openxmlformats.org/officeDocument/2006/relationships/slideLayout" Target="/ppt/slideLayouts/slideLayout3.xml" Id="R7486ca75b8fa4914" /><Relationship Type="http://schemas.openxmlformats.org/officeDocument/2006/relationships/slideLayout" Target="/ppt/slideLayouts/slideLayout4.xml" Id="R37c36566f650486b" /><Relationship Type="http://schemas.openxmlformats.org/officeDocument/2006/relationships/slideLayout" Target="/ppt/slideLayouts/slideLayout5.xml" Id="Rf2c9f249923d41f1" /><Relationship Type="http://schemas.openxmlformats.org/officeDocument/2006/relationships/slideLayout" Target="/ppt/slideLayouts/slideLayout6.xml" Id="R3c5f3f684ff748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4cb549cf84df2"/>
    <p:sldLayoutId xmlns:r="http://schemas.openxmlformats.org/officeDocument/2006/relationships" id="2147483650" r:id="R6ae238cd77644d15"/>
    <p:sldLayoutId xmlns:r="http://schemas.openxmlformats.org/officeDocument/2006/relationships" id="2147483651" r:id="R7486ca75b8fa4914"/>
    <p:sldLayoutId xmlns:r="http://schemas.openxmlformats.org/officeDocument/2006/relationships" id="2147483652" r:id="R37c36566f650486b"/>
    <p:sldLayoutId xmlns:r="http://schemas.openxmlformats.org/officeDocument/2006/relationships" id="2147483653" r:id="Rf2c9f249923d41f1"/>
    <p:sldLayoutId xmlns:r="http://schemas.openxmlformats.org/officeDocument/2006/relationships" id="2147483654" r:id="R3c5f3f684ff748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d79ff938640bc" /><Relationship Type="http://schemas.openxmlformats.org/officeDocument/2006/relationships/image" Target="/ppt/media/image.png" Id="Rf6c50b2d59d54183" /><Relationship Type="http://schemas.openxmlformats.org/officeDocument/2006/relationships/chart" Target="/ppt/slides/charts/chart1.xml" Id="R4f45d630237d4e4a" /><Relationship Type="http://schemas.openxmlformats.org/officeDocument/2006/relationships/notesSlide" Target="/ppt/notesSlides/notesSlide1.xml" Id="R855654545be843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54451"/>
                </a:solidFill>
                <a:latin typeface="Arial"/>
                <a:ea typeface="Arial"/>
                <a:cs typeface="Arial"/>
              </a:rPr>
              <a:t>Model results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050" b="1">
              <a:solidFill>
                <a:srgbClr val="354451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ser>
          <c:idx val="0"/>
          <c:order val="0"/>
          <c:tx>
            <c:v>Tuned XGBoost</c:v>
          </c:tx>
          <c:spPr>
            <a:solidFill xmlns:a="http://schemas.openxmlformats.org/drawingml/2006/main">
              <a:srgbClr val="2D8A4B"/>
            </a:solidFill>
          </c:spPr>
          <c:marker>
            <c:symbol val="circle"/>
            <c:size val="9"/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15.08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9.33</c:v>
                </c:pt>
              </c:numCache>
            </c:numRef>
          </c:yVal>
        </c:ser>
        <c:ser>
          <c:idx val="1"/>
          <c:order val="1"/>
          <c:tx>
            <c:v>Default XGBoost</c:v>
          </c:tx>
          <c:spPr>
            <a:solidFill xmlns:a="http://schemas.openxmlformats.org/drawingml/2006/main">
              <a:srgbClr val="4F7897"/>
            </a:solidFill>
          </c:spPr>
          <c:marker>
            <c:symbol val="circle"/>
            <c:size val="9"/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3.72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4.57</c:v>
                </c:pt>
              </c:numCache>
            </c:numRef>
          </c:yVal>
        </c:ser>
        <c:ser>
          <c:idx val="2"/>
          <c:order val="2"/>
          <c:tx>
            <c:v>Logistic regression</c:v>
          </c:tx>
          <c:spPr>
            <a:solidFill xmlns:a="http://schemas.openxmlformats.org/drawingml/2006/main">
              <a:srgbClr val="D89A36"/>
            </a:solidFill>
          </c:spPr>
          <c:marker>
            <c:symbol val="circle"/>
            <c:size val="9"/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62.63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76.5</c:v>
                </c:pt>
              </c:numCache>
            </c:numRef>
          </c:yVal>
        </c:ser>
        <c:ser>
          <c:idx val="3"/>
          <c:order val="3"/>
          <c:tx>
            <c:v>Threshold rule</c:v>
          </c:tx>
          <c:spPr>
            <a:solidFill xmlns:a="http://schemas.openxmlformats.org/drawingml/2006/main">
              <a:srgbClr val="8B6BAE"/>
            </a:solidFill>
          </c:spPr>
          <c:marker>
            <c:symbol val="circle"/>
            <c:size val="9"/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1.74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4.16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CRITICAL recall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NORMAL false-alarm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4F0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31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0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50b2d59d54183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2D81BA11-B887-4265-8D45-C0612FA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15075"/>
            <a:ext cx="929640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1CF30DCA-5872-4D58-9779-9F135F3B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29375"/>
            <a:ext cx="896302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5BC61D80-5176-49F8-BAFF-7D162204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WHAT THE LOCKED TEST ACTUALLY SHOWS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2191A9B0-025F-4FE8-A5FD-B6FA6E8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Classifier trade-off · one synthetic held-out corpus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753600" y="7124700"/>
          <a:ext xmlns:a="http://schemas.openxmlformats.org/drawingml/2006/main" cx="523875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45d630237d4e4a"/>
          </a:graphicData>
        </a:graphic>
      </p:graphicFrame>
      <p:sp>
        <p:nvSpPr>
          <p:cNvPr id="7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08AA6AAF-5D11-427C-90AD-01773E5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7143750"/>
            <a:ext cx="9525" cy="2609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C7EB"/>
            </a:solidFill>
          </a:ln>
        </p:spPr>
      </p:sp>
      <p:sp>
        <p:nvSpPr>
          <p:cNvPr id="8" name="tuning-heading">
            <a:extLst xmlns:a="http://schemas.openxmlformats.org/drawingml/2006/main">
              <a:ext uri="{FF2B5EF4-FFF2-40B4-BE49-F238E27FC236}">
                <a16:creationId xmlns:a16="http://schemas.microsoft.com/office/drawing/2014/main" id="{AA6D0DD4-32B7-45A1-B5B7-DA8ADE6F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191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TUNED XGBOOST vs DEFAULT</a:t>
            </a:r>
          </a:p>
        </p:txBody>
      </p:sp>
      <p:sp>
        <p:nvSpPr>
          <p:cNvPr id="9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E253E201-29E2-4AB3-99B9-EE7AE82D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5342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CRITICAL recall</a:t>
            </a:r>
          </a:p>
        </p:txBody>
      </p:sp>
      <p:sp>
        <p:nvSpPr>
          <p:cNvPr id="10" name="recall-value">
            <a:extLst xmlns:a="http://schemas.openxmlformats.org/drawingml/2006/main">
              <a:ext uri="{FF2B5EF4-FFF2-40B4-BE49-F238E27FC236}">
                <a16:creationId xmlns:a16="http://schemas.microsoft.com/office/drawing/2014/main" id="{C7CEAC27-C9ED-4B4F-AEAC-591152DD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7628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4B"/>
                </a:solidFill>
                <a:latin typeface="Arial"/>
                <a:ea typeface="Arial"/>
                <a:cs typeface="Arial"/>
              </a:rPr>
              <a:t>4.6%  →  9.3%</a:t>
            </a:r>
          </a:p>
        </p:txBody>
      </p:sp>
      <p:sp>
        <p:nvSpPr>
          <p:cNvPr id="11" name="recall-delta">
            <a:extLst xmlns:a="http://schemas.openxmlformats.org/drawingml/2006/main">
              <a:ext uri="{FF2B5EF4-FFF2-40B4-BE49-F238E27FC236}">
                <a16:creationId xmlns:a16="http://schemas.microsoft.com/office/drawing/2014/main" id="{7F470FD4-F206-42ED-B382-CB17F9B1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067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+4.8 percentage points</a:t>
            </a:r>
          </a:p>
        </p:txBody>
      </p:sp>
      <p:sp>
        <p:nvSpPr>
          <p:cNvPr id="12" name="false-alarm-label">
            <a:extLst xmlns:a="http://schemas.openxmlformats.org/drawingml/2006/main">
              <a:ext uri="{FF2B5EF4-FFF2-40B4-BE49-F238E27FC236}">
                <a16:creationId xmlns:a16="http://schemas.microsoft.com/office/drawing/2014/main" id="{58484D18-594A-46A9-824B-F3EE74F7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43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NORMAL false-alarm rate</a:t>
            </a:r>
          </a:p>
        </p:txBody>
      </p:sp>
      <p:sp>
        <p:nvSpPr>
          <p:cNvPr id="13" name="false-alarm-value">
            <a:extLst xmlns:a="http://schemas.openxmlformats.org/drawingml/2006/main">
              <a:ext uri="{FF2B5EF4-FFF2-40B4-BE49-F238E27FC236}">
                <a16:creationId xmlns:a16="http://schemas.microsoft.com/office/drawing/2014/main" id="{9D806D98-7916-4D7A-A3FE-6E920D0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6677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9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91C"/>
                </a:solidFill>
                <a:latin typeface="Arial"/>
                <a:ea typeface="Arial"/>
                <a:cs typeface="Arial"/>
              </a:rPr>
              <a:t>3.7%  →  15.1%</a:t>
            </a:r>
          </a:p>
        </p:txBody>
      </p:sp>
      <p:sp>
        <p:nvSpPr>
          <p:cNvPr id="14" name="false-alarm-delta">
            <a:extLst xmlns:a="http://schemas.openxmlformats.org/drawingml/2006/main">
              <a:ext uri="{FF2B5EF4-FFF2-40B4-BE49-F238E27FC236}">
                <a16:creationId xmlns:a16="http://schemas.microsoft.com/office/drawing/2014/main" id="{217031CD-FA20-4912-8F12-7EA86561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9725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+11.4 percentage points</a:t>
            </a:r>
          </a:p>
        </p:txBody>
      </p:sp>
      <p:sp>
        <p:nvSpPr>
          <p:cNvPr id="15" name="pipeline-divider">
            <a:extLst xmlns:a="http://schemas.openxmlformats.org/drawingml/2006/main">
              <a:ext uri="{FF2B5EF4-FFF2-40B4-BE49-F238E27FC236}">
                <a16:creationId xmlns:a16="http://schemas.microsoft.com/office/drawing/2014/main" id="{BFA1104D-B407-40D6-B63B-7881AEF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277350"/>
            <a:ext cx="2724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16" name="pipeline-result">
            <a:extLst xmlns:a="http://schemas.openxmlformats.org/drawingml/2006/main">
              <a:ext uri="{FF2B5EF4-FFF2-40B4-BE49-F238E27FC236}">
                <a16:creationId xmlns:a16="http://schemas.microsoft.com/office/drawing/2014/main" id="{9B61E8C1-90DA-4E2A-9AE4-8D7A65B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9363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End-to-end alert median lead: −3.3 h</a:t>
            </a:r>
          </a:p>
        </p:txBody>
      </p:sp>
      <p:sp>
        <p:nvSpPr>
          <p:cNvPr id="17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87A1822A-DFD6-4906-A11D-155B9E6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91552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Locked synthetic test · tuning raised recall but also false alarms. Negative alert lead means early-warning benefit is not demonstrated; no real-mine validation.</a:t>
            </a:r>
          </a:p>
        </p:txBody>
      </p:sp>
    </p:spTree>
    <p:extLst>
      <p:ext uri="{BB962C8B-B14F-4D97-AF65-F5344CB8AC3E}">
        <p14:creationId xmlns:p14="http://schemas.microsoft.com/office/powerpoint/2010/main" val="613467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2026-09-28T19:09:38.1850000Z</dcterms:created>
  <dcterms:modified xsi:type="dcterms:W3CDTF">2026-09-28T19:09:38.1850000Z</dcterms:modified>
</coreProperties>
</file>