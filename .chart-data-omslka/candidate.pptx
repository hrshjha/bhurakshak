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74c074fdac4d52" /><Relationship Type="http://schemas.openxmlformats.org/officeDocument/2006/relationships/extended-properties" Target="/docProps/app.xml" Id="Re8136c43f3f8448f" /><Relationship Type="http://schemas.openxmlformats.org/officeDocument/2006/relationships/officeDocument" Target="/ppt/presentation.xml" Id="R6a485262afa34d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2d6590a81d48ad"/>
  </p:sldMasterIdLst>
  <p:notesMasterIdLst>
    <p:notesMasterId xmlns:r="http://schemas.openxmlformats.org/officeDocument/2006/relationships" r:id="R045dd42d19f347aa"/>
  </p:notesMasterIdLst>
  <p:sldIdLst>
    <p:sldId xmlns:r="http://schemas.openxmlformats.org/officeDocument/2006/relationships" id="256" r:id="R647a936dadc24a6d"/>
  </p:sldIdLst>
  <p:sldSz cx="18707100" cy="10477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4f2853875024d0d" /><Relationship Type="http://schemas.openxmlformats.org/officeDocument/2006/relationships/slideMaster" Target="/ppt/slideMasters/slideMaster1.xml" Id="R542d6590a81d48ad" /><Relationship Type="http://schemas.openxmlformats.org/officeDocument/2006/relationships/notesMaster" Target="/ppt/notesMasters/notesMaster1.xml" Id="R045dd42d19f347aa" /><Relationship Type="http://schemas.openxmlformats.org/officeDocument/2006/relationships/presProps" Target="/ppt/presProps.xml" Id="R60a4df94f686422c" /><Relationship Type="http://schemas.openxmlformats.org/officeDocument/2006/relationships/tableStyles" Target="/ppt/tableStyles.xml" Id="R01ce2fc9bb6a4f04" /><Relationship Type="http://schemas.openxmlformats.org/officeDocument/2006/relationships/slide" Target="/ppt/slides/slide1.xml" Id="R647a936dadc24a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98e3c0f4b2144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5020ca340d4e26" /><Relationship Type="http://schemas.openxmlformats.org/officeDocument/2006/relationships/notesMaster" Target="/ppt/notesMasters/notesMaster1.xml" Id="Rad6cc441ac85426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ML Validation results from the one-time locked synthetic evaluation in reports/final_eval.md; reports/test_lock.json records evals_run=1. Values displayed exactly as provided: Threshold Rule: normal false alarms 1.7%, Critical recall 4.2%; Logistic Regression: 62.6%, 76.5%; Default XGBoost: 3.7%, 4.6%; Tuned XGBoost: 15.1%, 9.3%. This is held-out synthetic data, not real-mine evaluation.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4ed821f02843e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baca8eaf424bc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96d9d9de66431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4fc610a9db478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107d2460184ca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1e8f6c62824ce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8AE528F6-1380-456A-B829-FDC939E8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5873" y="3376083"/>
            <a:ext cx="935355" cy="5820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F3C058C-73F3-4061-A341-4C37BBEFBF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70710" y="3958167"/>
            <a:ext cx="14965680" cy="15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2D48F550-CAF7-4140-8742-621A7337222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806065" y="5762625"/>
            <a:ext cx="13094970" cy="1164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5CAD5976-0416-4F77-A515-7374D7E6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5873" y="3783542"/>
            <a:ext cx="935355" cy="5820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F65AAA8-B6F0-40F8-9E0D-3040E518C1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70710" y="4365625"/>
            <a:ext cx="14965680" cy="174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3F8F6C56-B7EE-4F87-80D3-829618EB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274" y="2328333"/>
            <a:ext cx="935355" cy="5820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830746A-0A3D-477F-AC07-A66684B386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52274" y="814917"/>
            <a:ext cx="16602551" cy="1280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23D2208E-4456-49CB-A958-F4B79C89C7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52274" y="2910417"/>
            <a:ext cx="16602551" cy="6519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349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1pPr>
            <a:lvl2pPr marL="814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2pPr>
            <a:lvl3pPr marL="1280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3pPr>
            <a:lvl4pPr marL="1746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4pPr>
            <a:lvl5pPr marL="2211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5pPr>
            <a:lvl6pPr marL="2677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6pPr>
            <a:lvl7pPr marL="3143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7pPr>
            <a:lvl8pPr marL="3608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8pPr>
            <a:lvl9pPr marL="4074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D75EB098-AA43-461D-95EF-E81CE6AAF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274" y="2328333"/>
            <a:ext cx="935355" cy="5820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8851E54-4521-4B34-8A2C-E7EDD875D9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52274" y="814917"/>
            <a:ext cx="16602551" cy="1280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4A6D9E2-E0F3-4D5C-A3A0-ED50B8EC92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52274" y="2910417"/>
            <a:ext cx="7716679" cy="6519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349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1pPr>
            <a:lvl2pPr marL="814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2pPr>
            <a:lvl3pPr marL="1280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3pPr>
            <a:lvl4pPr marL="1746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4pPr>
            <a:lvl5pPr marL="2211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5pPr>
            <a:lvl6pPr marL="2677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6pPr>
            <a:lvl7pPr marL="3143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7pPr>
            <a:lvl8pPr marL="3608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8pPr>
            <a:lvl9pPr marL="4074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3F8F0A1-99F6-420F-BF64-D2AB5BCE38D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938147" y="2910417"/>
            <a:ext cx="7716679" cy="6519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349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1pPr>
            <a:lvl2pPr marL="814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2pPr>
            <a:lvl3pPr marL="1280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3pPr>
            <a:lvl4pPr marL="1746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4pPr>
            <a:lvl5pPr marL="2211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5pPr>
            <a:lvl6pPr marL="2677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6pPr>
            <a:lvl7pPr marL="3143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7pPr>
            <a:lvl8pPr marL="3608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8pPr>
            <a:lvl9pPr marL="4074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968A56C1-75E6-4DF2-BE66-770B78644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274" y="2328333"/>
            <a:ext cx="935355" cy="5820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829AC66-4306-4FBD-BE0D-A2A65F4213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52274" y="814917"/>
            <a:ext cx="16602551" cy="1280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77EFC3A-839D-44B3-9DC3-109DC8FDFD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52274" y="2910417"/>
            <a:ext cx="7716679" cy="6519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349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1pPr>
            <a:lvl2pPr marL="814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2pPr>
            <a:lvl3pPr marL="1280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3pPr>
            <a:lvl4pPr marL="1746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4pPr>
            <a:lvl5pPr marL="2211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5pPr>
            <a:lvl6pPr marL="2677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6pPr>
            <a:lvl7pPr marL="3143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7pPr>
            <a:lvl8pPr marL="3608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8pPr>
            <a:lvl9pPr marL="4074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92da7011ac14a73" /><Relationship Type="http://schemas.openxmlformats.org/officeDocument/2006/relationships/slideLayout" Target="/ppt/slideLayouts/slideLayout1.xml" Id="R8a2f6a914ae74dd1" /><Relationship Type="http://schemas.openxmlformats.org/officeDocument/2006/relationships/slideLayout" Target="/ppt/slideLayouts/slideLayout2.xml" Id="R16c5ffe1bd5441b5" /><Relationship Type="http://schemas.openxmlformats.org/officeDocument/2006/relationships/slideLayout" Target="/ppt/slideLayouts/slideLayout3.xml" Id="Rf378946b233249c1" /><Relationship Type="http://schemas.openxmlformats.org/officeDocument/2006/relationships/slideLayout" Target="/ppt/slideLayouts/slideLayout4.xml" Id="R08a28ef9bf84423a" /><Relationship Type="http://schemas.openxmlformats.org/officeDocument/2006/relationships/slideLayout" Target="/ppt/slideLayouts/slideLayout5.xml" Id="Rd51e7e3b53684618" /><Relationship Type="http://schemas.openxmlformats.org/officeDocument/2006/relationships/slideLayout" Target="/ppt/slideLayouts/slideLayout6.xml" Id="Ra02aa329fb62433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2f6a914ae74dd1"/>
    <p:sldLayoutId xmlns:r="http://schemas.openxmlformats.org/officeDocument/2006/relationships" id="2147483650" r:id="R16c5ffe1bd5441b5"/>
    <p:sldLayoutId xmlns:r="http://schemas.openxmlformats.org/officeDocument/2006/relationships" id="2147483651" r:id="Rf378946b233249c1"/>
    <p:sldLayoutId xmlns:r="http://schemas.openxmlformats.org/officeDocument/2006/relationships" id="2147483652" r:id="R08a28ef9bf84423a"/>
    <p:sldLayoutId xmlns:r="http://schemas.openxmlformats.org/officeDocument/2006/relationships" id="2147483653" r:id="Rd51e7e3b53684618"/>
    <p:sldLayoutId xmlns:r="http://schemas.openxmlformats.org/officeDocument/2006/relationships" id="2147483654" r:id="Ra02aa329fb62433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c8ef291c4f4e36" /><Relationship Type="http://schemas.openxmlformats.org/officeDocument/2006/relationships/image" Target="/ppt/media/image.png" Id="R21414b03f65b4496" /><Relationship Type="http://schemas.openxmlformats.org/officeDocument/2006/relationships/chart" Target="/ppt/slides/charts/chart1.xml" Id="R295ae578082a44ce" /><Relationship Type="http://schemas.openxmlformats.org/officeDocument/2006/relationships/notesSlide" Target="/ppt/notesSlides/notesSlide1.xml" Id="Rc90aca3c76274c9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Normal false alarms</c:v>
          </c:tx>
          <c:spPr>
            <a:solidFill xmlns:a="http://schemas.openxmlformats.org/drawingml/2006/main">
              <a:srgbClr val="E6A23C"/>
            </a:solidFill>
          </c:spPr>
          <c:cat>
            <c:strRef>
              <c:f>'Chart Data'!$A$2:$A$5</c:f>
              <c:strCache>
                <c:ptCount val="4"/>
                <c:pt idx="0">
                  <c:v>Tuned XGBoost</c:v>
                </c:pt>
                <c:pt idx="1">
                  <c:v>Default XGBoost</c:v>
                </c:pt>
                <c:pt idx="2">
                  <c:v>Logistic Regression</c:v>
                </c:pt>
                <c:pt idx="3">
                  <c:v>Threshold Rule</c:v>
                </c:pt>
              </c:strCache>
            </c:strRef>
          </c:cat>
          <c:val>
            <c:numRef>
              <c:f>'Chart Data'!$B$2:$B$5</c:f>
              <c:numCache>
                <c:formatCode>0.0"%"</c:formatCode>
                <c:ptCount val="4"/>
                <c:pt idx="0">
                  <c:v>15.1</c:v>
                </c:pt>
                <c:pt idx="1">
                  <c:v>3.7</c:v>
                </c:pt>
                <c:pt idx="2">
                  <c:v>62.6</c:v>
                </c:pt>
                <c:pt idx="3">
                  <c:v>1.7</c:v>
                </c:pt>
              </c:numCache>
            </c:numRef>
          </c:val>
        </c:ser>
        <c:ser>
          <c:idx val="1"/>
          <c:order val="1"/>
          <c:tx>
            <c:v>Critical recall</c:v>
          </c:tx>
          <c:spPr>
            <a:solidFill xmlns:a="http://schemas.openxmlformats.org/drawingml/2006/main">
              <a:srgbClr val="2D8A4B"/>
            </a:solidFill>
          </c:spPr>
          <c:cat>
            <c:strRef>
              <c:f>'Chart Data'!$C$2:$C$5</c:f>
              <c:strCache>
                <c:ptCount val="4"/>
                <c:pt idx="0">
                  <c:v>Tuned XGBoost</c:v>
                </c:pt>
                <c:pt idx="1">
                  <c:v>Default XGBoost</c:v>
                </c:pt>
                <c:pt idx="2">
                  <c:v>Logistic Regression</c:v>
                </c:pt>
                <c:pt idx="3">
                  <c:v>Threshold Rule</c:v>
                </c:pt>
              </c:strCache>
            </c:strRef>
          </c:cat>
          <c:val>
            <c:numRef>
              <c:f>'Chart Data'!$D$2:$D$5</c:f>
              <c:numCache>
                <c:formatCode>0.0"%"</c:formatCode>
                <c:ptCount val="4"/>
                <c:pt idx="0">
                  <c:v>9.3</c:v>
                </c:pt>
                <c:pt idx="1">
                  <c:v>4.6</c:v>
                </c:pt>
                <c:pt idx="2">
                  <c:v>76.5</c:v>
                </c:pt>
                <c:pt idx="3">
                  <c:v>4.2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26313D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2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DE5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394653"/>
                    </a:solidFill>
                    <a:latin typeface="Arial"/>
                    <a:ea typeface="Arial"/>
                    <a:cs typeface="Arial"/>
                  </a:rPr>
                  <a:t>Percent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394653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87929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D59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4404C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2EE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26313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2EE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414b03f65b4496"/>
          <a:srcRect xmlns:a="http://schemas.openxmlformats.org/drawingml/2006/main" l="7" t="0" r="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707100" cy="10477500"/>
          </a:xfrm>
          <a:prstGeom xmlns:a="http://schemas.openxmlformats.org/drawingml/2006/main" prst="rect">
            <a:avLst/>
          </a:prstGeom>
        </p:spPr>
      </p:pic>
      <p:sp>
        <p:nvSpPr>
          <p:cNvPr id="2" name="cover-previous-ml-validation-content">
            <a:extLst xmlns:a="http://schemas.openxmlformats.org/drawingml/2006/main">
              <a:ext uri="{FF2B5EF4-FFF2-40B4-BE49-F238E27FC236}">
                <a16:creationId xmlns:a16="http://schemas.microsoft.com/office/drawing/2014/main" id="{0807329E-D534-471A-A429-1A412E6C2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66950"/>
            <a:ext cx="8610600" cy="565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FF"/>
          </a:solidFill>
          <a:ln xmlns:a="http://schemas.openxmlformats.org/drawingml/2006/main" w="0">
            <a:noFill/>
          </a:ln>
        </p:spPr>
      </p:sp>
      <p:sp>
        <p:nvSpPr>
          <p:cNvPr id="3" name="ml-validation-kicker">
            <a:extLst xmlns:a="http://schemas.openxmlformats.org/drawingml/2006/main">
              <a:ext uri="{FF2B5EF4-FFF2-40B4-BE49-F238E27FC236}">
                <a16:creationId xmlns:a16="http://schemas.microsoft.com/office/drawing/2014/main" id="{E6367D10-7F46-45F4-94F9-2EE96C2C0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409825"/>
            <a:ext cx="800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9677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777"/>
                </a:solidFill>
                <a:latin typeface="Arial"/>
                <a:ea typeface="Arial"/>
                <a:cs typeface="Arial"/>
              </a:rPr>
              <a:t>TECHNICAL FEASIBILITY  /  ML VALIDATION</a:t>
            </a:r>
          </a:p>
        </p:txBody>
      </p:sp>
      <p:sp>
        <p:nvSpPr>
          <p:cNvPr id="4" name="ml-validation-title">
            <a:extLst xmlns:a="http://schemas.openxmlformats.org/drawingml/2006/main">
              <a:ext uri="{FF2B5EF4-FFF2-40B4-BE49-F238E27FC236}">
                <a16:creationId xmlns:a16="http://schemas.microsoft.com/office/drawing/2014/main" id="{F9BA1C13-CDE4-48BB-8B10-A4264AE9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638425"/>
            <a:ext cx="809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53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6313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6313D"/>
                </a:solidFill>
                <a:latin typeface="Arial"/>
                <a:ea typeface="Arial"/>
                <a:cs typeface="Arial"/>
              </a:rPr>
              <a:t>ML Performance Trade-off (Locked Synthetic Test)</a:t>
            </a:r>
          </a:p>
        </p:txBody>
      </p:sp>
      <p:sp>
        <p:nvSpPr>
          <p:cNvPr id="5" name="ml-validation-subtitle">
            <a:extLst xmlns:a="http://schemas.openxmlformats.org/drawingml/2006/main">
              <a:ext uri="{FF2B5EF4-FFF2-40B4-BE49-F238E27FC236}">
                <a16:creationId xmlns:a16="http://schemas.microsoft.com/office/drawing/2014/main" id="{03415DF7-6B1D-4788-A1C6-A5724A03A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943225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Critical recall compared with normal false alarms · same held-out test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4800600" y="3190875"/>
          <a:ext xmlns:a="http://schemas.openxmlformats.org/drawingml/2006/main" cx="8201025" cy="39338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95ae578082a44ce"/>
          </a:graphicData>
        </a:graphic>
      </p:graphicFrame>
      <p:sp>
        <p:nvSpPr>
          <p:cNvPr id="7" name="ml-validation-footnote">
            <a:extLst xmlns:a="http://schemas.openxmlformats.org/drawingml/2006/main">
              <a:ext uri="{FF2B5EF4-FFF2-40B4-BE49-F238E27FC236}">
                <a16:creationId xmlns:a16="http://schemas.microsoft.com/office/drawing/2014/main" id="{F06528EB-4B8D-47C8-A669-359DE061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741997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Evaluation on held-out synthetic data; real-mine performance remains unvalidated.</a:t>
            </a:r>
          </a:p>
        </p:txBody>
      </p:sp>
    </p:spTree>
    <p:extLst>
      <p:ext uri="{BB962C8B-B14F-4D97-AF65-F5344CB8AC3E}">
        <p14:creationId xmlns:p14="http://schemas.microsoft.com/office/powerpoint/2010/main" val="13906301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2026-09-28T19:25:40.9330000Z</dcterms:created>
  <dcterms:modified xsi:type="dcterms:W3CDTF">2026-09-28T19:25:40.9330000Z</dcterms:modified>
</coreProperties>
</file>