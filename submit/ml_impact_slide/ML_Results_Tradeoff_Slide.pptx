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d846bde4a7478a" /><Relationship Type="http://schemas.openxmlformats.org/officeDocument/2006/relationships/extended-properties" Target="/docProps/app.xml" Id="R059cf38f189c4664" /><Relationship Type="http://schemas.openxmlformats.org/officeDocument/2006/relationships/officeDocument" Target="/ppt/presentation.xml" Id="R1aa78b2a2fd842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d717fbe0e545dc"/>
  </p:sldMasterIdLst>
  <p:notesMasterIdLst>
    <p:notesMasterId xmlns:r="http://schemas.openxmlformats.org/officeDocument/2006/relationships" r:id="R9a7fa2ac282e46ec"/>
  </p:notesMasterIdLst>
  <p:sldIdLst>
    <p:sldId xmlns:r="http://schemas.openxmlformats.org/officeDocument/2006/relationships" id="256" r:id="R373aeb8a48d3484a"/>
  </p:sldIdLst>
  <p:sldSz cx="187071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440ba7f5824caf" /><Relationship Type="http://schemas.openxmlformats.org/officeDocument/2006/relationships/slideMaster" Target="/ppt/slideMasters/slideMaster1.xml" Id="R37d717fbe0e545dc" /><Relationship Type="http://schemas.openxmlformats.org/officeDocument/2006/relationships/notesMaster" Target="/ppt/notesMasters/notesMaster1.xml" Id="R9a7fa2ac282e46ec" /><Relationship Type="http://schemas.openxmlformats.org/officeDocument/2006/relationships/presProps" Target="/ppt/presProps.xml" Id="R54e751291334433e" /><Relationship Type="http://schemas.openxmlformats.org/officeDocument/2006/relationships/tableStyles" Target="/ppt/tableStyles.xml" Id="R94d8f062b9814c24" /><Relationship Type="http://schemas.openxmlformats.org/officeDocument/2006/relationships/slide" Target="/ppt/slides/slide1.xml" Id="R373aeb8a48d348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52cfa7f51346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59a3b388c04217" /><Relationship Type="http://schemas.openxmlformats.org/officeDocument/2006/relationships/notesMaster" Target="/ppt/notesMasters/notesMaster1.xml" Id="Rccc50a4568f741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source: reports/final_eval.md and reports/test_lock.json. One-time locked evaluation of the synthetic held-out corpus, seed 20260929, evals_run=1. Scatter plot x=normal false-alarm rate (%), y=CRITICAL recall (%): tuned XGBoost (15.08, 9.33); default XGBoost (3.72, 4.57); logistic regression (62.63, 76.50); threshold rule (1.74, 4.16). Headline delta is tuned XGBoost vs default XGBoost: +4.76 percentage points CRITICAL recall, and +11.36 percentage points NORMAL false-alarm rate. End-to-end alert figures, same locked evaluation: median lead time -3.3334 hours and 0.0460798 false-alert episodes per normal event day. reports/acceptance_criteria.md explicitly states no early-warning success claim is supported; physical tabletop and real-mine validation are absent. All outcomes are synthetic-test results, not evidence of realized field benefit.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031e197c81415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5d9fcb072d47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d4c63e3ed7417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7e9430a0a45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8d6a2ac79741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60e05711148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5ABF44F-6BFD-4E41-B350-4E92FF37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37608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E9AAEA7-D22C-4D71-BC50-3F08BEC82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3958167"/>
            <a:ext cx="14965680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7E9F775-F865-4E88-BE1C-0BEF23B48E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06065" y="5762625"/>
            <a:ext cx="1309497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FB312CD-4C15-4578-85AF-DF617013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783542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7A03FE6-EDB7-4801-B029-AAABAB308F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4365625"/>
            <a:ext cx="1496568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211CC10-2EFC-4FE0-B9AA-20C3E2E1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0A04E5-92F1-40FE-A09A-F176063F5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14AF2AB-110B-44DE-A719-97007D5C29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16602551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3AD8DB9-5D51-4269-8DD8-FE77734B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8C7FB5-9824-4821-938D-790EE7EFD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77A46C-5E02-431F-8F15-19CEBAA4D8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5CF1D27-BB26-4FAA-BF2A-03F5AF8494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938147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C159990-0314-48C5-A8DE-4967FB5B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86A398-AAD1-434D-921F-466232B6A9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D68E56-08E9-4B48-941B-C14A4E87C5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e35f8a070f4034" /><Relationship Type="http://schemas.openxmlformats.org/officeDocument/2006/relationships/slideLayout" Target="/ppt/slideLayouts/slideLayout1.xml" Id="R590e4b4539c54c41" /><Relationship Type="http://schemas.openxmlformats.org/officeDocument/2006/relationships/slideLayout" Target="/ppt/slideLayouts/slideLayout2.xml" Id="R3ef5445843094557" /><Relationship Type="http://schemas.openxmlformats.org/officeDocument/2006/relationships/slideLayout" Target="/ppt/slideLayouts/slideLayout3.xml" Id="R3105673ee23f44db" /><Relationship Type="http://schemas.openxmlformats.org/officeDocument/2006/relationships/slideLayout" Target="/ppt/slideLayouts/slideLayout4.xml" Id="R78342ef8ef2b4d65" /><Relationship Type="http://schemas.openxmlformats.org/officeDocument/2006/relationships/slideLayout" Target="/ppt/slideLayouts/slideLayout5.xml" Id="Rfd3312aaa14b4c54" /><Relationship Type="http://schemas.openxmlformats.org/officeDocument/2006/relationships/slideLayout" Target="/ppt/slideLayouts/slideLayout6.xml" Id="Rfd194d48603141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0e4b4539c54c41"/>
    <p:sldLayoutId xmlns:r="http://schemas.openxmlformats.org/officeDocument/2006/relationships" id="2147483650" r:id="R3ef5445843094557"/>
    <p:sldLayoutId xmlns:r="http://schemas.openxmlformats.org/officeDocument/2006/relationships" id="2147483651" r:id="R3105673ee23f44db"/>
    <p:sldLayoutId xmlns:r="http://schemas.openxmlformats.org/officeDocument/2006/relationships" id="2147483652" r:id="R78342ef8ef2b4d65"/>
    <p:sldLayoutId xmlns:r="http://schemas.openxmlformats.org/officeDocument/2006/relationships" id="2147483653" r:id="Rfd3312aaa14b4c54"/>
    <p:sldLayoutId xmlns:r="http://schemas.openxmlformats.org/officeDocument/2006/relationships" id="2147483654" r:id="Rfd194d48603141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9028c272ef4a7e" /><Relationship Type="http://schemas.openxmlformats.org/officeDocument/2006/relationships/image" Target="/ppt/media/image.png" Id="R3801ec6c24d24fb2" /><Relationship Type="http://schemas.openxmlformats.org/officeDocument/2006/relationships/chart" Target="/ppt/slides/charts/chart1.xml" Id="R71c257d31810409a" /><Relationship Type="http://schemas.openxmlformats.org/officeDocument/2006/relationships/notesSlide" Target="/ppt/notesSlides/notesSlide1.xml" Id="Rf2bee221ca254fe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354451"/>
                </a:solidFill>
                <a:latin typeface="Arial"/>
                <a:ea typeface="Arial"/>
                <a:cs typeface="Arial"/>
              </a:rPr>
              <a:t>Measured rates (%)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 algn="ctr">
            <a:defRPr sz="1050" b="1">
              <a:solidFill>
                <a:srgbClr val="354451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Default XGBoost</c:v>
          </c:tx>
          <c:spPr>
            <a:solidFill xmlns:a="http://schemas.openxmlformats.org/drawingml/2006/main">
              <a:srgbClr val="4F7897"/>
            </a:solidFill>
          </c:spPr>
          <c:cat>
            <c:strRef>
              <c:f>'Chart Data'!$A$2:$A$3</c:f>
              <c:strCache>
                <c:ptCount val="2"/>
                <c:pt idx="0">
                  <c:v>CRITICAL cases detected</c:v>
                </c:pt>
                <c:pt idx="1">
                  <c:v>NORMAL false alarms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4.57</c:v>
                </c:pt>
                <c:pt idx="1">
                  <c:v>3.72</c:v>
                </c:pt>
              </c:numCache>
            </c:numRef>
          </c:val>
        </c:ser>
        <c:ser>
          <c:idx val="1"/>
          <c:order val="1"/>
          <c:tx>
            <c:v>Tuned XGBoost</c:v>
          </c:tx>
          <c:spPr>
            <a:solidFill xmlns:a="http://schemas.openxmlformats.org/drawingml/2006/main">
              <a:srgbClr val="2D8A4B"/>
            </a:solidFill>
          </c:spPr>
          <c:cat>
            <c:strRef>
              <c:f>'Chart Data'!$C$2:$C$3</c:f>
              <c:strCache>
                <c:ptCount val="2"/>
                <c:pt idx="0">
                  <c:v>CRITICAL cases detected</c:v>
                </c:pt>
                <c:pt idx="1">
                  <c:v>NORMAL false alarms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9.33</c:v>
                </c:pt>
                <c:pt idx="1">
                  <c:v>15.08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27323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DE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34414C"/>
                    </a:solidFill>
                    <a:latin typeface="Arial"/>
                    <a:ea typeface="Arial"/>
                    <a:cs typeface="Arial"/>
                  </a:rPr>
                  <a:t>Rate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34414C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88929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8525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4414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0FC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25313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0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1ec6c24d24fb2"/>
          <a:srcRect xmlns:a="http://schemas.openxmlformats.org/drawingml/2006/main" l="602" t="0" r="6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707100" cy="10477500"/>
          </a:xfrm>
          <a:prstGeom xmlns:a="http://schemas.openxmlformats.org/drawingml/2006/main" prst="rect">
            <a:avLst/>
          </a:prstGeom>
        </p:spPr>
      </p:pic>
      <p:sp>
        <p:nvSpPr>
          <p:cNvPr id="2" name="cover-marked-box">
            <a:extLst xmlns:a="http://schemas.openxmlformats.org/drawingml/2006/main">
              <a:ext uri="{FF2B5EF4-FFF2-40B4-BE49-F238E27FC236}">
                <a16:creationId xmlns:a16="http://schemas.microsoft.com/office/drawing/2014/main" id="{9DAB3A3D-A092-4234-BC73-73F34040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15075"/>
            <a:ext cx="9296400" cy="416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impact-graph-panel">
            <a:extLst xmlns:a="http://schemas.openxmlformats.org/drawingml/2006/main">
              <a:ext uri="{FF2B5EF4-FFF2-40B4-BE49-F238E27FC236}">
                <a16:creationId xmlns:a16="http://schemas.microsoft.com/office/drawing/2014/main" id="{F2AA2B54-5A80-4E45-A93E-326C413A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29375"/>
            <a:ext cx="9172575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4F0FC"/>
          </a:solidFill>
          <a:ln xmlns:a="http://schemas.openxmlformats.org/drawingml/2006/main" w="28575">
            <a:solidFill>
              <a:srgbClr val="D9C8FC"/>
            </a:solidFill>
          </a:ln>
        </p:spPr>
      </p:sp>
      <p:sp>
        <p:nvSpPr>
          <p:cNvPr id="4" name="graph-heading">
            <a:extLst xmlns:a="http://schemas.openxmlformats.org/drawingml/2006/main">
              <a:ext uri="{FF2B5EF4-FFF2-40B4-BE49-F238E27FC236}">
                <a16:creationId xmlns:a16="http://schemas.microsoft.com/office/drawing/2014/main" id="{6D2FCAC7-E53F-44CF-899E-468D20D8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572250"/>
            <a:ext cx="823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2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D2926"/>
                </a:solidFill>
                <a:latin typeface="Arial"/>
                <a:ea typeface="Arial"/>
                <a:cs typeface="Arial"/>
              </a:rPr>
              <a:t>WHAT THE ML CHANGED</a:t>
            </a:r>
          </a:p>
        </p:txBody>
      </p:sp>
      <p:sp>
        <p:nvSpPr>
          <p:cNvPr id="5" name="graph-subheading">
            <a:extLst xmlns:a="http://schemas.openxmlformats.org/drawingml/2006/main">
              <a:ext uri="{FF2B5EF4-FFF2-40B4-BE49-F238E27FC236}">
                <a16:creationId xmlns:a16="http://schemas.microsoft.com/office/drawing/2014/main" id="{3310F981-6C5A-49F9-AE8E-87EE345B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858000"/>
            <a:ext cx="823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4515F"/>
                </a:solidFill>
                <a:latin typeface="Arial"/>
                <a:ea typeface="Arial"/>
                <a:cs typeface="Arial"/>
              </a:rPr>
              <a:t>Tuned XGBoost vs default · same locked synthetic test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9753600" y="7143750"/>
          <a:ext xmlns:a="http://schemas.openxmlformats.org/drawingml/2006/main" cx="5238750" cy="2609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c257d31810409a"/>
          </a:graphicData>
        </a:graphic>
      </p:graphicFrame>
      <p:sp>
        <p:nvSpPr>
          <p:cNvPr id="7" name="result-divider">
            <a:extLst xmlns:a="http://schemas.openxmlformats.org/drawingml/2006/main">
              <a:ext uri="{FF2B5EF4-FFF2-40B4-BE49-F238E27FC236}">
                <a16:creationId xmlns:a16="http://schemas.microsoft.com/office/drawing/2014/main" id="{CA19714A-5B51-40B6-965A-5FE80C47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7143750"/>
            <a:ext cx="9525" cy="2609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C7EB"/>
            </a:solidFill>
          </a:ln>
        </p:spPr>
      </p:sp>
      <p:sp>
        <p:nvSpPr>
          <p:cNvPr id="8" name="tuning-heading">
            <a:extLst xmlns:a="http://schemas.openxmlformats.org/drawingml/2006/main">
              <a:ext uri="{FF2B5EF4-FFF2-40B4-BE49-F238E27FC236}">
                <a16:creationId xmlns:a16="http://schemas.microsoft.com/office/drawing/2014/main" id="{FB50359B-86FC-4EBE-809C-6928A3A6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719137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3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6F37"/>
                </a:solidFill>
                <a:latin typeface="Arial"/>
                <a:ea typeface="Arial"/>
                <a:cs typeface="Arial"/>
              </a:rPr>
              <a:t>THE SIMPLE TAKEAWAY</a:t>
            </a:r>
          </a:p>
        </p:txBody>
      </p:sp>
      <p:sp>
        <p:nvSpPr>
          <p:cNvPr id="9" name="recall-label">
            <a:extLst xmlns:a="http://schemas.openxmlformats.org/drawingml/2006/main">
              <a:ext uri="{FF2B5EF4-FFF2-40B4-BE49-F238E27FC236}">
                <a16:creationId xmlns:a16="http://schemas.microsoft.com/office/drawing/2014/main" id="{7B78150E-3481-46BB-A9A4-52EFFB82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7553325"/>
            <a:ext cx="2781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9444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9444D"/>
                </a:solidFill>
                <a:latin typeface="Arial"/>
                <a:ea typeface="Arial"/>
                <a:cs typeface="Arial"/>
              </a:rPr>
              <a:t>It detected more CRITICAL cases</a:t>
            </a:r>
          </a:p>
        </p:txBody>
      </p:sp>
      <p:sp>
        <p:nvSpPr>
          <p:cNvPr id="10" name="recall-value">
            <a:extLst xmlns:a="http://schemas.openxmlformats.org/drawingml/2006/main">
              <a:ext uri="{FF2B5EF4-FFF2-40B4-BE49-F238E27FC236}">
                <a16:creationId xmlns:a16="http://schemas.microsoft.com/office/drawing/2014/main" id="{0BDA06F6-8827-42AB-87EE-8375E75B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77819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8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D8A4B"/>
                </a:solidFill>
                <a:latin typeface="Arial"/>
                <a:ea typeface="Arial"/>
                <a:cs typeface="Arial"/>
              </a:rPr>
              <a:t>+4.8 points</a:t>
            </a:r>
          </a:p>
        </p:txBody>
      </p:sp>
      <p:sp>
        <p:nvSpPr>
          <p:cNvPr id="11" name="false-alarm-label">
            <a:extLst xmlns:a="http://schemas.openxmlformats.org/drawingml/2006/main">
              <a:ext uri="{FF2B5EF4-FFF2-40B4-BE49-F238E27FC236}">
                <a16:creationId xmlns:a16="http://schemas.microsoft.com/office/drawing/2014/main" id="{47EA32A5-0C7D-4302-92F2-FF844872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2296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9444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9444D"/>
                </a:solidFill>
                <a:latin typeface="Arial"/>
                <a:ea typeface="Arial"/>
                <a:cs typeface="Arial"/>
              </a:rPr>
              <a:t>It also raised NORMAL false alarms</a:t>
            </a:r>
          </a:p>
        </p:txBody>
      </p:sp>
      <p:sp>
        <p:nvSpPr>
          <p:cNvPr id="12" name="false-alarm-value">
            <a:extLst xmlns:a="http://schemas.openxmlformats.org/drawingml/2006/main">
              <a:ext uri="{FF2B5EF4-FFF2-40B4-BE49-F238E27FC236}">
                <a16:creationId xmlns:a16="http://schemas.microsoft.com/office/drawing/2014/main" id="{AB320E4A-2517-46CF-B0C5-3A241AB6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5725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79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791C"/>
                </a:solidFill>
                <a:latin typeface="Arial"/>
                <a:ea typeface="Arial"/>
                <a:cs typeface="Arial"/>
              </a:rPr>
              <a:t>+11.4 points</a:t>
            </a:r>
          </a:p>
        </p:txBody>
      </p:sp>
      <p:sp>
        <p:nvSpPr>
          <p:cNvPr id="13" name="pipeline-divider">
            <a:extLst xmlns:a="http://schemas.openxmlformats.org/drawingml/2006/main">
              <a:ext uri="{FF2B5EF4-FFF2-40B4-BE49-F238E27FC236}">
                <a16:creationId xmlns:a16="http://schemas.microsoft.com/office/drawing/2014/main" id="{D886072D-291D-4C93-9C8B-FA76A0FC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972550"/>
            <a:ext cx="27241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C7EB"/>
            </a:solidFill>
          </a:ln>
        </p:spPr>
      </p:sp>
      <p:sp>
        <p:nvSpPr>
          <p:cNvPr id="14" name="pipeline-result">
            <a:extLst xmlns:a="http://schemas.openxmlformats.org/drawingml/2006/main">
              <a:ext uri="{FF2B5EF4-FFF2-40B4-BE49-F238E27FC236}">
                <a16:creationId xmlns:a16="http://schemas.microsoft.com/office/drawing/2014/main" id="{ADFC898A-91D3-498F-91BD-9DFE47C4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9077325"/>
            <a:ext cx="2781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2926"/>
                </a:solidFill>
                <a:latin typeface="Arial"/>
                <a:ea typeface="Arial"/>
                <a:cs typeface="Arial"/>
              </a:rPr>
              <a:t>Overall: early-warning benefit is not demonstrated (alert median −3.3 h).</a:t>
            </a:r>
          </a:p>
        </p:txBody>
      </p:sp>
      <p:sp>
        <p:nvSpPr>
          <p:cNvPr id="15" name="evidence-footnote">
            <a:extLst xmlns:a="http://schemas.openxmlformats.org/drawingml/2006/main">
              <a:ext uri="{FF2B5EF4-FFF2-40B4-BE49-F238E27FC236}">
                <a16:creationId xmlns:a16="http://schemas.microsoft.com/office/drawing/2014/main" id="{583FC64E-62E7-442E-93D5-351DA87C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915525"/>
            <a:ext cx="817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Synthetic test only · no real-mine validation. Higher recall came with more false alarms; a net safety benefit has not been shown.</a:t>
            </a:r>
          </a:p>
        </p:txBody>
      </p:sp>
    </p:spTree>
    <p:extLst>
      <p:ext uri="{BB962C8B-B14F-4D97-AF65-F5344CB8AC3E}">
        <p14:creationId xmlns:p14="http://schemas.microsoft.com/office/powerpoint/2010/main" val="688156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2026-09-28T19:16:41.7950000Z</dcterms:created>
  <dcterms:modified xsi:type="dcterms:W3CDTF">2026-09-28T19:16:41.7950000Z</dcterms:modified>
</coreProperties>
</file>