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2fd4f823c64e17" /><Relationship Type="http://schemas.openxmlformats.org/officeDocument/2006/relationships/extended-properties" Target="/docProps/app.xml" Id="Ra7b02ab9dc22460e" /><Relationship Type="http://schemas.openxmlformats.org/officeDocument/2006/relationships/officeDocument" Target="/ppt/presentation.xml" Id="R71fda70eb20049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c9a8aca6de41ff"/>
  </p:sldMasterIdLst>
  <p:notesMasterIdLst>
    <p:notesMasterId xmlns:r="http://schemas.openxmlformats.org/officeDocument/2006/relationships" r:id="R6e7046c099b748da"/>
  </p:notesMasterIdLst>
  <p:sldIdLst>
    <p:sldId xmlns:r="http://schemas.openxmlformats.org/officeDocument/2006/relationships" id="256" r:id="R35136d11d4544b0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5a284b7af483b" /><Relationship Type="http://schemas.openxmlformats.org/officeDocument/2006/relationships/slideMaster" Target="/ppt/slideMasters/slideMaster1.xml" Id="R43c9a8aca6de41ff" /><Relationship Type="http://schemas.openxmlformats.org/officeDocument/2006/relationships/notesMaster" Target="/ppt/notesMasters/notesMaster1.xml" Id="R6e7046c099b748da" /><Relationship Type="http://schemas.openxmlformats.org/officeDocument/2006/relationships/presProps" Target="/ppt/presProps.xml" Id="R1d94ae5761e14e5a" /><Relationship Type="http://schemas.openxmlformats.org/officeDocument/2006/relationships/tableStyles" Target="/ppt/tableStyles.xml" Id="R3d5fe6e608bc48d1" /><Relationship Type="http://schemas.openxmlformats.org/officeDocument/2006/relationships/slide" Target="/ppt/slides/slide1.xml" Id="R35136d11d4544b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05e4e0b6dc44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71894ee67b45bf" /><Relationship Type="http://schemas.openxmlformats.org/officeDocument/2006/relationships/notesMaster" Target="/ppt/notesMasters/notesMaster1.xml" Id="R8aa546bd477d4e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chain is a proposed system pathway. Current software evaluation is on a held-out synthetic corpus only. No physical or mine-site validation is established. Alert levels are intended risk categories and do not predict exact collapse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2bcf748f944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b5126bd6d4e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43343ca2849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7b64cc7d44c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afc5bd91140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28c5b67084a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670DA79-5A1F-4F30-B549-E7EFC1EC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8AB502-6658-44D8-9D1A-51F3D2E0F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79F2852-3A5C-4DBA-9656-B0BE6C8455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2EA3DC4-505A-4C62-B2BE-CC38B3D5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1E8C92-2698-4866-857D-CF5A5F2719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E350120-35CD-4257-B419-A21FCB01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CAFA7C-11FF-4229-9BEE-688174C1E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F9AA093-D631-40B3-A2FB-5EF801B8E9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6A352BD-7EAE-4EB9-8084-CE6CA3FF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7A7BD2-F328-459C-8B69-CC7EE792B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BEA98C-66CD-4361-A251-DD0C2B2976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49A620-F389-482C-ABA3-81BD6FDA21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072506F-B489-4FC6-9DD2-33630D5E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3FAFC7-6259-44BD-92E5-760EBEAEC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90E616-8EF7-4877-A3A8-EE00CD3588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3a150fc7164197" /><Relationship Type="http://schemas.openxmlformats.org/officeDocument/2006/relationships/slideLayout" Target="/ppt/slideLayouts/slideLayout1.xml" Id="R282b92d1fb774be1" /><Relationship Type="http://schemas.openxmlformats.org/officeDocument/2006/relationships/slideLayout" Target="/ppt/slideLayouts/slideLayout2.xml" Id="R3766e1077d694f06" /><Relationship Type="http://schemas.openxmlformats.org/officeDocument/2006/relationships/slideLayout" Target="/ppt/slideLayouts/slideLayout3.xml" Id="R6571536a83134a0a" /><Relationship Type="http://schemas.openxmlformats.org/officeDocument/2006/relationships/slideLayout" Target="/ppt/slideLayouts/slideLayout4.xml" Id="R1e7fef44008748f9" /><Relationship Type="http://schemas.openxmlformats.org/officeDocument/2006/relationships/slideLayout" Target="/ppt/slideLayouts/slideLayout5.xml" Id="R6a04fd2d970d499d" /><Relationship Type="http://schemas.openxmlformats.org/officeDocument/2006/relationships/slideLayout" Target="/ppt/slideLayouts/slideLayout6.xml" Id="Rd4426769b96242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2b92d1fb774be1"/>
    <p:sldLayoutId xmlns:r="http://schemas.openxmlformats.org/officeDocument/2006/relationships" id="2147483650" r:id="R3766e1077d694f06"/>
    <p:sldLayoutId xmlns:r="http://schemas.openxmlformats.org/officeDocument/2006/relationships" id="2147483651" r:id="R6571536a83134a0a"/>
    <p:sldLayoutId xmlns:r="http://schemas.openxmlformats.org/officeDocument/2006/relationships" id="2147483652" r:id="R1e7fef44008748f9"/>
    <p:sldLayoutId xmlns:r="http://schemas.openxmlformats.org/officeDocument/2006/relationships" id="2147483653" r:id="R6a04fd2d970d499d"/>
    <p:sldLayoutId xmlns:r="http://schemas.openxmlformats.org/officeDocument/2006/relationships" id="2147483654" r:id="Rd4426769b96242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deeb3b2a14b4d" /><Relationship Type="http://schemas.openxmlformats.org/officeDocument/2006/relationships/notesSlide" Target="/ppt/notesSlides/notesSlide1.xml" Id="R965238d7ea4249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83F8DE4-6E31-4841-A6AB-94D6A3A9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B87F2-4E05-4B01-A50E-C916EAB1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BHURAKSHAK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49110-2A8A-472D-836B-7F73E57C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9650"/>
            <a:ext cx="1238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Mine subsidence monitoring · intended impact pathway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4E95C-3D7D-4B01-A1AA-A3F39B12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57225"/>
            <a:ext cx="3810000" cy="514350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C2FAD-82B9-4948-8387-46C9643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762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DESIGNED SYSTEM · NOT A FIELD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54DC2-6BE5-4216-97BE-A1BCEEC8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Sensor signals move through anomaly detection and risk assessment to human review. The impact is potential until physically and operationally validated.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8AF64-42FE-4430-88B0-5959DCB4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48CB5-7E81-40C6-B2B2-5F92E33C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C3A63-E337-434D-A7E7-BE069A99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DEF6F-E9E3-4783-808E-DF1E41F8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BBE1A-BA8C-4708-B370-BB861006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76600"/>
            <a:ext cx="514350" cy="400050"/>
          </a:xfrm>
          <a:prstGeom xmlns:a="http://schemas.openxmlformats.org/drawingml/2006/main" prst="roundRect">
            <a:avLst>
              <a:gd name="adj" fmla="val 11905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03675-8F6E-4647-B17A-913CF1C4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3718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0677F-A209-4D17-AD19-9A0FB156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2194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35143-6366-42DE-AF00-CA4B3A8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57375" y="32194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AE0C8-81F4-4867-AED1-3FAE0FF2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67665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07424-27D6-47A7-87CE-3E93637F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57375" y="367665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551C7-1699-4DEB-B4BA-339F6E00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81125" y="337185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71659-74B4-444D-BCD1-318FEE2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81125" y="358140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5CF14-033A-445F-A0A0-9EE7C5E3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52625" y="337185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9E157-1A45-40E6-B8DA-6E33E92F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52625" y="358140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D0DF5-7FAF-42A5-8AEA-D3F04A68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SENSOR MONITORING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FB903-92BB-483E-A23A-D51E2A7F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20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D3DBA-8040-4A78-B29D-31AE2A9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Designed for continuous tilt, vibration, crack-change and displacement readings.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EE568-0A8D-4EC9-9261-AD7B3E29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F9DCD-F3F2-40B6-8C49-D4C9A0E8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548B35-B0F4-4048-B363-703B92DA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C2342F-0D23-4E89-A3BE-06CE69CC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59F68-21A1-4E34-92E0-1317FFB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8612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83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398C8E-8C17-4141-BF6F-CD903386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48200" y="3571875"/>
            <a:ext cx="18097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83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08C62D-D8C8-44B4-A96A-5BC5868B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38650" y="3476625"/>
            <a:ext cx="66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74BE4-EAD6-415E-898F-105EAA93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05325" y="3400425"/>
            <a:ext cx="381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A5118C-1A0D-4AE6-9D00-5CED19BE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3425" y="3400425"/>
            <a:ext cx="571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F0F637-DF51-4969-B9E1-EF108B50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DEFORMATION DETECTION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29613E-76C3-4084-AE3E-C5DAA46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6576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709168-E77E-452E-AD5B-1517086C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Isolation Forest flags unusual patterns in the sensor readings.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B447CC-CA2A-4C7C-B9FD-EDC02AA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7BA0C8-0A53-43B2-A75F-F1C23610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0BCA03-DDAA-44CA-A62C-559B6117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0302AD-524D-46E6-951A-BDF51199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0941D5-8B4E-4A99-8897-F8E55CC5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6D57E7-30DB-45D8-BF46-D21ABB30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22DF7A-7E67-45BB-AB5F-79412083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B240DA-AA16-4745-ACA7-D3C7CE1C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4D8F97-AA40-4E1C-912D-C42C1A3E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2825" y="3390900"/>
            <a:ext cx="1619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FB676E-CF85-41A8-B78B-25D936F9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62825" y="3543300"/>
            <a:ext cx="1619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093E82-E4E2-419C-999C-1E012D84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3533775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164765-725B-471D-ABBB-85A58C4F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RISK ASSESSMENT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677C2E-4B7D-491C-9C6B-35A61B3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532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81C0DB-D671-4A8F-9393-7CE9360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XGBoost assigns a risk class; physics checks screen for implausible signals.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8FF833-9480-473C-86C0-58D2CEF4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40BCBC-7F87-485C-B9FC-9917C08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1F9670-8057-4731-A309-A1181198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D2D9D3-1FBE-44E9-9F54-79CC2A7E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72C520-D1B0-4950-B87C-0D0E3484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86125"/>
            <a:ext cx="533400" cy="47625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2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D1FBF3-7755-43C9-B20F-7C308736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19475"/>
            <a:ext cx="381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4DCE63-5853-4F73-A569-39160D05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DEE20C-87C5-4FAF-9BC4-1293B6ED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79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87922"/>
                </a:solidFill>
                <a:latin typeface="Helvetica Neue"/>
                <a:ea typeface="Helvetica Neue"/>
                <a:cs typeface="Helvetica Neue"/>
              </a:rPr>
              <a:t>EARLY WARNING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D392E1-91A1-43B5-B505-28CDE729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4488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89F233-427D-4E68-9701-AA66F9FC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5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GREEN  →  WATCH  →  WARNING  →  CRITICAL</a:t>
            </a:r>
          </a:p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Risk states guide attention; they do not predict collapse time.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5CAFB4-1BF6-4107-A787-7DA1D713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4F9F5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9DE535-C25C-4118-94EE-ABC56911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008F8F-6307-40B5-BF10-249DAB0B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41785C-DC64-42DE-ACBA-821FD14F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6E684A-E2A6-4045-B49D-C647D2E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28612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9D906F-44AA-4E2C-AE91-3662A4D4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343275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2EF91C-39F8-4615-9DB7-6D82C63E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3505200"/>
            <a:ext cx="295275" cy="23812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EA0ACB-34FB-41DF-ACB0-28589834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3533775"/>
            <a:ext cx="276225" cy="2095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74B743B-8385-41E4-A7FC-5CBB127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HUMAN INTERVENTION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1EC853-187F-46BD-AE3F-1D80A591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444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370879-4A4B-4323-9D47-25A79432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Operators and authorities can prioritize inspections and safety measures.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DD2E82D-90F9-4201-A926-A59F725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1F7F3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3CF888-F4C5-4AF5-AFBB-70C62354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50847E-7154-423C-AAAD-ED59B515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B2C5A9-05F8-472F-8D63-C5470FC0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587898-4809-4BE8-979C-A430AD3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34194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20EED4-971A-4E7D-BA7D-C54F4F9B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3286125"/>
            <a:ext cx="457200" cy="295275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C8A4F8-96BD-4FBD-BFE1-00857673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3925" y="35718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4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9660C8C-DB8B-4D74-A0BB-F6E2DA12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7DF0FAA-CA85-4C02-BE7A-066E6773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9DA13C-C419-4EA1-B749-6B65150C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POTENTIAL IMPACT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5596D7E-E441-4D83-B229-2B6CE682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400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B99CE0-9201-43DF-9116-2D935AB6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Earlier information could help reduce exposure and limit damage.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D243124-A22E-40BD-81FB-DF04597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337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013B7A-FFAD-436B-8334-BD4AC5A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A0EB39F-C238-4D3F-9DD3-F0814CD4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293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0C1ECF0-4977-48C8-9D6D-C74FDAB5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06DEAB0-D43A-4AA2-9672-DC1CF8F3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249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27A2FCC-92C1-45D4-8E3E-1824C9E0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46E4F88-FE97-4D7F-A8A8-EB9FFFF2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8205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EA5FC86-E47B-4167-8935-3C838C53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DC547E9-7A1F-4EF2-83F1-80F4F304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7161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F7E2D2-099C-443C-BB70-6525AED7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FCC7CB-7A01-4BE0-96A0-838958F8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24100"/>
            <a:ext cx="367665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3B83A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96AB0E-4B4C-4FE4-BCF1-B219AF3B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43150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AI PIPELINE</a:t>
            </a:r>
          </a:p>
          <a:p xmlns:a="http://schemas.openxmlformats.org/drawingml/2006/main">
            <a:pPr algn="ctr">
              <a:defRPr sz="1050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Isolation Forest + XGBoost + physics checks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FDDF30-4F8B-4452-80E0-63F540C5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791325"/>
            <a:ext cx="17221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69CD523-5C87-4711-AD9E-7FE8DE83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389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POTENTIAL OUTCOMES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8AE5071-4B44-47C8-B158-DA802DC6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038975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Possible benefits to evaluate in physical and field studies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A09C9AE-EE19-4CF5-B934-4DFF49E2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4E45C5C-A6D7-457B-801B-1B790819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4595C69-455D-4977-AF76-16BB6E38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6B8B97-13A1-4206-BDB5-7703AADA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4CCDD08-0CA3-4C90-9F4D-A0698137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WORKER SAFETY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B266E0-C25C-45DF-8C38-B6E5F53E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Worker exposure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AB4259-A604-410F-B404-6E656B0F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FE0235A-D399-4C09-A989-8E8E1ED0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505371-9FB1-4260-B4A0-D3D28633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E986013-AA1F-4112-BF9C-65EE6943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793C46-EA6D-4E48-A0CB-34332A6C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FASTER DETECTION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D14DF45-3B04-44A6-8506-058FB08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Time to notice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AF435AB-7F01-41D3-A76F-4845CB73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06FEA8B-07D9-44AF-BE61-9C3D1D56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573E30A-9339-4554-BF7E-9A185592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C2DAD33-ED68-4E8D-ADB1-529AC8F6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FA8D6E-9F44-40B3-A2D3-F846FD2C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TARGETED INSPECTION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BC48132-B828-459F-A3C6-81DF0E95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Inspection priority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FE53881-79F6-42EE-AF62-51F51E73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F97A07D-5839-480C-BB44-DCB90E54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1EA1556-F787-420B-B60B-5977D19C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42DDA1F-E8CC-4721-B770-38411439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3622F58-8C70-4103-B2E8-7279C963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ENVIRONMENTAL PROTECTION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109224C-68FB-49B3-865F-6D89219C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Land and water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C1419E0-43A5-4404-B626-E53ED1C8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020175"/>
            <a:ext cx="172212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1CB9C4C-4309-41DE-B98E-1B6D4664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58275"/>
            <a:ext cx="1676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Evidence to date: held-out synthetic evaluation only; physical and mine-site transfer remain unverified.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E3D100C-3105-4830-B1C3-A0FAF5DF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0"/>
            <a:ext cx="1722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Potential impact; real-world effectiveness awaits physical and field validation.</a:t>
            </a:r>
          </a:p>
        </p:txBody>
      </p:sp>
    </p:spTree>
    <p:extLst>
      <p:ext uri="{BB962C8B-B14F-4D97-AF65-F5344CB8AC3E}">
        <p14:creationId xmlns:p14="http://schemas.microsoft.com/office/powerpoint/2010/main" val="1560155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2026-09-28T19:36:08.6040000Z</dcterms:created>
  <dcterms:modified xsi:type="dcterms:W3CDTF">2026-09-28T19:36:08.6040000Z</dcterms:modified>
</coreProperties>
</file>