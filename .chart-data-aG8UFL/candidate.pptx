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06ecbf9ac94c52" /><Relationship Type="http://schemas.openxmlformats.org/officeDocument/2006/relationships/extended-properties" Target="/docProps/app.xml" Id="R7ddbdd8fb526491a" /><Relationship Type="http://schemas.openxmlformats.org/officeDocument/2006/relationships/officeDocument" Target="/ppt/presentation.xml" Id="R824db8000ca24b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19c4a9a306430f"/>
  </p:sldMasterIdLst>
  <p:notesMasterIdLst>
    <p:notesMasterId xmlns:r="http://schemas.openxmlformats.org/officeDocument/2006/relationships" r:id="R62ff836282184b96"/>
  </p:notesMasterIdLst>
  <p:sldIdLst>
    <p:sldId xmlns:r="http://schemas.openxmlformats.org/officeDocument/2006/relationships" id="256" r:id="R0095e2ddafcf4585"/>
  </p:sldIdLst>
  <p:sldSz cx="187071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3294a29b204fc6" /><Relationship Type="http://schemas.openxmlformats.org/officeDocument/2006/relationships/slideMaster" Target="/ppt/slideMasters/slideMaster1.xml" Id="R5d19c4a9a306430f" /><Relationship Type="http://schemas.openxmlformats.org/officeDocument/2006/relationships/notesMaster" Target="/ppt/notesMasters/notesMaster1.xml" Id="R62ff836282184b96" /><Relationship Type="http://schemas.openxmlformats.org/officeDocument/2006/relationships/presProps" Target="/ppt/presProps.xml" Id="Rb582bc1cf4f2474c" /><Relationship Type="http://schemas.openxmlformats.org/officeDocument/2006/relationships/tableStyles" Target="/ppt/tableStyles.xml" Id="Rb457625998c240f0" /><Relationship Type="http://schemas.openxmlformats.org/officeDocument/2006/relationships/slide" Target="/ppt/slides/slide1.xml" Id="R0095e2ddafcf45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534074d46f42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95c7a12fa4078" /><Relationship Type="http://schemas.openxmlformats.org/officeDocument/2006/relationships/notesMaster" Target="/ppt/notesMasters/notesMaster1.xml" Id="Ra224744160f04b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source: reports/final_eval.md and reports/test_lock.json. One-time locked evaluation of the synthetic held-out corpus, seed 20260929, evals_run=1. Scatter plot x=normal false-alarm rate (%), y=CRITICAL recall (%): tuned XGBoost (15.08, 9.33); default XGBoost (3.72, 4.57); logistic regression (62.63, 76.50); threshold rule (1.74, 4.16). Headline delta is tuned XGBoost vs default XGBoost: +4.76 percentage points CRITICAL recall, and +11.36 percentage points NORMAL false-alarm rate. End-to-end alert figures, same locked evaluation: median lead time -3.3334 hours and 0.0460798 false-alert episodes per normal event day. reports/acceptance_criteria.md explicitly states no early-warning success claim is supported; physical tabletop and real-mine validation are absent. All outcomes are synthetic-test results, not evidence of realized field benefit.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b168778f8944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64a5688734f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ad196dec64c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afd5e496c4b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0cfc3121f49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53e56930124e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1852CCF-0AAC-44C2-991C-36D8DB49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37608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F21B87-1F32-45DA-B163-097888558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3958167"/>
            <a:ext cx="1496568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3EE0BD5-A5D4-48EC-A819-FCF4E24855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06065" y="5762625"/>
            <a:ext cx="1309497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669129A-715D-4395-A00B-EFEFDEC7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873" y="3783542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A49F4C6-A447-4691-964D-B26612D3C6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4365625"/>
            <a:ext cx="1496568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19D2544-BC02-49E0-969E-DC76E508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5041E30-3190-45EA-A8E7-29E4271434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EE5E8C5-86EF-4A67-9C63-E5D6E00E6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16602551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C198EF6-E082-457E-AA88-8176391C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7B5A38-FA54-4491-A165-3CD2B43871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4E5103-1781-49F5-844B-8EC8BB4147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38C20A-DADF-4E92-80C8-F71AFF7D22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938147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274EE2D-5C77-44C2-8FA8-93F602FC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74" y="2328333"/>
            <a:ext cx="935355" cy="5820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9A3B72-B9A3-4229-81DF-B3567B7697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814917"/>
            <a:ext cx="16602551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491698-A800-4129-8D54-2D9FD0A8DB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2910417"/>
            <a:ext cx="7716679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9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1pPr>
            <a:lvl2pPr marL="814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2pPr>
            <a:lvl3pPr marL="1280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3pPr>
            <a:lvl4pPr marL="1746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4pPr>
            <a:lvl5pPr marL="2211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5pPr>
            <a:lvl6pPr marL="2677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6pPr>
            <a:lvl7pPr marL="3143250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7pPr>
            <a:lvl8pPr marL="3608917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8pPr>
            <a:lvl9pPr marL="4074583" indent="-349250">
              <a:lnSpc>
                <a:spcPct val="110000"/>
              </a:lnSpc>
              <a:spcBef>
                <a:spcPts val="0"/>
              </a:spcBef>
              <a:spcAft>
                <a:spcPts val="183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2dfa9dce3144ad" /><Relationship Type="http://schemas.openxmlformats.org/officeDocument/2006/relationships/slideLayout" Target="/ppt/slideLayouts/slideLayout1.xml" Id="R4f3d465a096c4dc1" /><Relationship Type="http://schemas.openxmlformats.org/officeDocument/2006/relationships/slideLayout" Target="/ppt/slideLayouts/slideLayout2.xml" Id="Rce381689218b4f26" /><Relationship Type="http://schemas.openxmlformats.org/officeDocument/2006/relationships/slideLayout" Target="/ppt/slideLayouts/slideLayout3.xml" Id="R74ffa049de9f4ffa" /><Relationship Type="http://schemas.openxmlformats.org/officeDocument/2006/relationships/slideLayout" Target="/ppt/slideLayouts/slideLayout4.xml" Id="R4987d10d402e4155" /><Relationship Type="http://schemas.openxmlformats.org/officeDocument/2006/relationships/slideLayout" Target="/ppt/slideLayouts/slideLayout5.xml" Id="Rcd8426ad3111453a" /><Relationship Type="http://schemas.openxmlformats.org/officeDocument/2006/relationships/slideLayout" Target="/ppt/slideLayouts/slideLayout6.xml" Id="R4d5e0f1cd22e4e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3d465a096c4dc1"/>
    <p:sldLayoutId xmlns:r="http://schemas.openxmlformats.org/officeDocument/2006/relationships" id="2147483650" r:id="Rce381689218b4f26"/>
    <p:sldLayoutId xmlns:r="http://schemas.openxmlformats.org/officeDocument/2006/relationships" id="2147483651" r:id="R74ffa049de9f4ffa"/>
    <p:sldLayoutId xmlns:r="http://schemas.openxmlformats.org/officeDocument/2006/relationships" id="2147483652" r:id="R4987d10d402e4155"/>
    <p:sldLayoutId xmlns:r="http://schemas.openxmlformats.org/officeDocument/2006/relationships" id="2147483653" r:id="Rcd8426ad3111453a"/>
    <p:sldLayoutId xmlns:r="http://schemas.openxmlformats.org/officeDocument/2006/relationships" id="2147483654" r:id="R4d5e0f1cd22e4e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a4c010d1384f9b" /><Relationship Type="http://schemas.openxmlformats.org/officeDocument/2006/relationships/image" Target="/ppt/media/image.png" Id="Rbc3a9354681a4406" /><Relationship Type="http://schemas.openxmlformats.org/officeDocument/2006/relationships/chart" Target="/ppt/slides/charts/chart1.xml" Id="Ra8421578ce6041d4" /><Relationship Type="http://schemas.openxmlformats.org/officeDocument/2006/relationships/notesSlide" Target="/ppt/notesSlides/notesSlide1.xml" Id="R0754bc210218436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354451"/>
                </a:solidFill>
                <a:latin typeface="Arial"/>
                <a:ea typeface="Arial"/>
                <a:cs typeface="Arial"/>
              </a:rPr>
              <a:t>Model results (%)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 algn="ctr">
            <a:defRPr sz="1050" b="1">
              <a:solidFill>
                <a:srgbClr val="354451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marker"/>
        <c:ser>
          <c:idx val="0"/>
          <c:order val="0"/>
          <c:tx>
            <c:v>Tuned XGBoost</c:v>
          </c:tx>
          <c:spPr>
            <a:solidFill xmlns:a="http://schemas.openxmlformats.org/drawingml/2006/main">
              <a:srgbClr val="2D8A4B"/>
            </a:solidFill>
          </c:spPr>
          <c:marker>
            <c:symbol val="circle"/>
            <c:size val="9"/>
          </c:marker>
          <c:xVal>
            <c:numRef>
              <c:f>'Chart Data'!$A$2:$A$2</c:f>
              <c:numCache>
                <c:formatCode>General</c:formatCode>
                <c:ptCount val="1"/>
                <c:pt idx="0">
                  <c:v>15.08</c:v>
                </c:pt>
              </c:numCache>
            </c:numRef>
          </c:xVal>
          <c:yVal>
            <c:numRef>
              <c:f>'Chart Data'!$B$2:$B$2</c:f>
              <c:numCache>
                <c:formatCode>0</c:formatCode>
                <c:ptCount val="1"/>
                <c:pt idx="0">
                  <c:v>9.33</c:v>
                </c:pt>
              </c:numCache>
            </c:numRef>
          </c:yVal>
        </c:ser>
        <c:ser>
          <c:idx val="1"/>
          <c:order val="1"/>
          <c:tx>
            <c:v>Default XGBoost</c:v>
          </c:tx>
          <c:spPr>
            <a:solidFill xmlns:a="http://schemas.openxmlformats.org/drawingml/2006/main">
              <a:srgbClr val="4F7897"/>
            </a:solidFill>
          </c:spPr>
          <c:marker>
            <c:symbol val="circle"/>
            <c:size val="9"/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3.72</c:v>
                </c:pt>
              </c:numCache>
            </c:numRef>
          </c:xVal>
          <c:yVal>
            <c:numRef>
              <c:f>'Chart Data'!$D$2:$D$2</c:f>
              <c:numCache>
                <c:formatCode>0</c:formatCode>
                <c:ptCount val="1"/>
                <c:pt idx="0">
                  <c:v>4.57</c:v>
                </c:pt>
              </c:numCache>
            </c:numRef>
          </c:yVal>
        </c:ser>
        <c:ser>
          <c:idx val="2"/>
          <c:order val="2"/>
          <c:tx>
            <c:v>Logistic regression</c:v>
          </c:tx>
          <c:spPr>
            <a:solidFill xmlns:a="http://schemas.openxmlformats.org/drawingml/2006/main">
              <a:srgbClr val="D89A36"/>
            </a:solidFill>
          </c:spPr>
          <c:marker>
            <c:symbol val="circle"/>
            <c:size val="9"/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62.63</c:v>
                </c:pt>
              </c:numCache>
            </c:numRef>
          </c:xVal>
          <c:yVal>
            <c:numRef>
              <c:f>'Chart Data'!$F$2:$F$2</c:f>
              <c:numCache>
                <c:formatCode>0</c:formatCode>
                <c:ptCount val="1"/>
                <c:pt idx="0">
                  <c:v>76.5</c:v>
                </c:pt>
              </c:numCache>
            </c:numRef>
          </c:yVal>
        </c:ser>
        <c:ser>
          <c:idx val="3"/>
          <c:order val="3"/>
          <c:tx>
            <c:v>Threshold rule</c:v>
          </c:tx>
          <c:spPr>
            <a:solidFill xmlns:a="http://schemas.openxmlformats.org/drawingml/2006/main">
              <a:srgbClr val="8B6BAE"/>
            </a:solidFill>
          </c:spPr>
          <c:marker>
            <c:symbol val="circle"/>
            <c:size val="9"/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1.74</c:v>
                </c:pt>
              </c:numCache>
            </c:numRef>
          </c:xVal>
          <c:yVal>
            <c:numRef>
              <c:f>'Chart Data'!$H$2:$H$2</c:f>
              <c:numCache>
                <c:formatCode>0</c:formatCode>
                <c:ptCount val="1"/>
                <c:pt idx="0">
                  <c:v>4.16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DE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34414C"/>
                    </a:solidFill>
                    <a:latin typeface="Arial"/>
                    <a:ea typeface="Arial"/>
                    <a:cs typeface="Arial"/>
                  </a:rPr>
                  <a:t>CRITICAL recall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34414C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88929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8525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7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DE2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34414C"/>
                    </a:solidFill>
                    <a:latin typeface="Arial"/>
                    <a:ea typeface="Arial"/>
                    <a:cs typeface="Arial"/>
                  </a:rPr>
                  <a:t>NORMAL false-alarm rate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34414C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88929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8525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4F0FC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5313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0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a9354681a4406"/>
          <a:srcRect xmlns:a="http://schemas.openxmlformats.org/drawingml/2006/main" l="602" t="0" r="6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707100" cy="10477500"/>
          </a:xfrm>
          <a:prstGeom xmlns:a="http://schemas.openxmlformats.org/drawingml/2006/main" prst="rect">
            <a:avLst/>
          </a:prstGeom>
        </p:spPr>
      </p:pic>
      <p:sp>
        <p:nvSpPr>
          <p:cNvPr id="2" name="cover-marked-box">
            <a:extLst xmlns:a="http://schemas.openxmlformats.org/drawingml/2006/main">
              <a:ext uri="{FF2B5EF4-FFF2-40B4-BE49-F238E27FC236}">
                <a16:creationId xmlns:a16="http://schemas.microsoft.com/office/drawing/2014/main" id="{55A3B64B-39F1-42CC-B8D7-DB887A0D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6315075"/>
            <a:ext cx="9020175" cy="416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impact-graph-panel">
            <a:extLst xmlns:a="http://schemas.openxmlformats.org/drawingml/2006/main">
              <a:ext uri="{FF2B5EF4-FFF2-40B4-BE49-F238E27FC236}">
                <a16:creationId xmlns:a16="http://schemas.microsoft.com/office/drawing/2014/main" id="{2A6E98D2-4216-442E-8D8C-02F57FDB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429375"/>
            <a:ext cx="8810625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4F0FC"/>
          </a:solidFill>
          <a:ln xmlns:a="http://schemas.openxmlformats.org/drawingml/2006/main" w="28575">
            <a:solidFill>
              <a:srgbClr val="D9C8FC"/>
            </a:solidFill>
          </a:ln>
        </p:spPr>
      </p:sp>
      <p:sp>
        <p:nvSpPr>
          <p:cNvPr id="4" name="graph-heading">
            <a:extLst xmlns:a="http://schemas.openxmlformats.org/drawingml/2006/main">
              <a:ext uri="{FF2B5EF4-FFF2-40B4-BE49-F238E27FC236}">
                <a16:creationId xmlns:a16="http://schemas.microsoft.com/office/drawing/2014/main" id="{38E0B10C-6CA6-42F1-B6D0-C3CD280E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72250"/>
            <a:ext cx="823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2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D2926"/>
                </a:solidFill>
                <a:latin typeface="Arial"/>
                <a:ea typeface="Arial"/>
                <a:cs typeface="Arial"/>
              </a:rPr>
              <a:t>WHAT THE LOCKED TEST ACTUALLY SHOWS</a:t>
            </a:r>
          </a:p>
        </p:txBody>
      </p:sp>
      <p:sp>
        <p:nvSpPr>
          <p:cNvPr id="5" name="graph-subheading">
            <a:extLst xmlns:a="http://schemas.openxmlformats.org/drawingml/2006/main">
              <a:ext uri="{FF2B5EF4-FFF2-40B4-BE49-F238E27FC236}">
                <a16:creationId xmlns:a16="http://schemas.microsoft.com/office/drawing/2014/main" id="{68A01C4D-D492-49A8-AB1F-75032DCA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858000"/>
            <a:ext cx="823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4515F"/>
                </a:solidFill>
                <a:latin typeface="Arial"/>
                <a:ea typeface="Arial"/>
                <a:cs typeface="Arial"/>
              </a:rPr>
              <a:t>Classifier trade-off · one synthetic held-out corpus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9906000" y="7124700"/>
          <a:ext xmlns:a="http://schemas.openxmlformats.org/drawingml/2006/main" cx="5238750" cy="2705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421578ce6041d4"/>
          </a:graphicData>
        </a:graphic>
      </p:graphicFrame>
      <p:sp>
        <p:nvSpPr>
          <p:cNvPr id="7" name="result-divider">
            <a:extLst xmlns:a="http://schemas.openxmlformats.org/drawingml/2006/main">
              <a:ext uri="{FF2B5EF4-FFF2-40B4-BE49-F238E27FC236}">
                <a16:creationId xmlns:a16="http://schemas.microsoft.com/office/drawing/2014/main" id="{C5C7685B-5F40-4E6E-908F-20EAEF35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9525" y="7143750"/>
            <a:ext cx="9525" cy="2609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C7EB"/>
            </a:solidFill>
          </a:ln>
        </p:spPr>
      </p:sp>
      <p:sp>
        <p:nvSpPr>
          <p:cNvPr id="8" name="tuning-heading">
            <a:extLst xmlns:a="http://schemas.openxmlformats.org/drawingml/2006/main">
              <a:ext uri="{FF2B5EF4-FFF2-40B4-BE49-F238E27FC236}">
                <a16:creationId xmlns:a16="http://schemas.microsoft.com/office/drawing/2014/main" id="{6D8E510E-BBB6-4D29-97C1-74F36CEC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719137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6F37"/>
                </a:solidFill>
                <a:latin typeface="Arial"/>
                <a:ea typeface="Arial"/>
                <a:cs typeface="Arial"/>
              </a:rPr>
              <a:t>TUNED XGBOOST vs DEFAULT</a:t>
            </a:r>
          </a:p>
        </p:txBody>
      </p:sp>
      <p:sp>
        <p:nvSpPr>
          <p:cNvPr id="9" name="recall-label">
            <a:extLst xmlns:a="http://schemas.openxmlformats.org/drawingml/2006/main">
              <a:ext uri="{FF2B5EF4-FFF2-40B4-BE49-F238E27FC236}">
                <a16:creationId xmlns:a16="http://schemas.microsoft.com/office/drawing/2014/main" id="{E94FFBF8-26F6-4CEB-8DDE-9ED7B58C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753427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44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444D"/>
                </a:solidFill>
                <a:latin typeface="Arial"/>
                <a:ea typeface="Arial"/>
                <a:cs typeface="Arial"/>
              </a:rPr>
              <a:t>CRITICAL recall</a:t>
            </a:r>
          </a:p>
        </p:txBody>
      </p:sp>
      <p:sp>
        <p:nvSpPr>
          <p:cNvPr id="10" name="recall-value">
            <a:extLst xmlns:a="http://schemas.openxmlformats.org/drawingml/2006/main">
              <a:ext uri="{FF2B5EF4-FFF2-40B4-BE49-F238E27FC236}">
                <a16:creationId xmlns:a16="http://schemas.microsoft.com/office/drawing/2014/main" id="{348716DE-D6CD-4C9F-B7C8-7725A719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7762875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8A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D8A4B"/>
                </a:solidFill>
                <a:latin typeface="Arial"/>
                <a:ea typeface="Arial"/>
                <a:cs typeface="Arial"/>
              </a:rPr>
              <a:t>4.6%  →  9.3%</a:t>
            </a:r>
          </a:p>
        </p:txBody>
      </p:sp>
      <p:sp>
        <p:nvSpPr>
          <p:cNvPr id="11" name="recall-delta">
            <a:extLst xmlns:a="http://schemas.openxmlformats.org/drawingml/2006/main">
              <a:ext uri="{FF2B5EF4-FFF2-40B4-BE49-F238E27FC236}">
                <a16:creationId xmlns:a16="http://schemas.microsoft.com/office/drawing/2014/main" id="{7EBACFD7-84AD-4733-9A10-5BDDEB55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8067675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9444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9444D"/>
                </a:solidFill>
                <a:latin typeface="Arial"/>
                <a:ea typeface="Arial"/>
                <a:cs typeface="Arial"/>
              </a:rPr>
              <a:t>+4.8 percentage points</a:t>
            </a:r>
          </a:p>
        </p:txBody>
      </p:sp>
      <p:sp>
        <p:nvSpPr>
          <p:cNvPr id="12" name="false-alarm-label">
            <a:extLst xmlns:a="http://schemas.openxmlformats.org/drawingml/2006/main">
              <a:ext uri="{FF2B5EF4-FFF2-40B4-BE49-F238E27FC236}">
                <a16:creationId xmlns:a16="http://schemas.microsoft.com/office/drawing/2014/main" id="{B908F63A-13F2-4A62-8026-D34993A1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84391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44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444D"/>
                </a:solidFill>
                <a:latin typeface="Arial"/>
                <a:ea typeface="Arial"/>
                <a:cs typeface="Arial"/>
              </a:rPr>
              <a:t>NORMAL false-alarm rate</a:t>
            </a:r>
          </a:p>
        </p:txBody>
      </p:sp>
      <p:sp>
        <p:nvSpPr>
          <p:cNvPr id="13" name="false-alarm-value">
            <a:extLst xmlns:a="http://schemas.openxmlformats.org/drawingml/2006/main">
              <a:ext uri="{FF2B5EF4-FFF2-40B4-BE49-F238E27FC236}">
                <a16:creationId xmlns:a16="http://schemas.microsoft.com/office/drawing/2014/main" id="{A565B734-0B91-4C38-A6C8-53D6149C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86677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79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791C"/>
                </a:solidFill>
                <a:latin typeface="Arial"/>
                <a:ea typeface="Arial"/>
                <a:cs typeface="Arial"/>
              </a:rPr>
              <a:t>3.7%  →  15.1%</a:t>
            </a:r>
          </a:p>
        </p:txBody>
      </p:sp>
      <p:sp>
        <p:nvSpPr>
          <p:cNvPr id="14" name="false-alarm-delta">
            <a:extLst xmlns:a="http://schemas.openxmlformats.org/drawingml/2006/main">
              <a:ext uri="{FF2B5EF4-FFF2-40B4-BE49-F238E27FC236}">
                <a16:creationId xmlns:a16="http://schemas.microsoft.com/office/drawing/2014/main" id="{48CC8C2E-E033-499D-A9A2-CC655F94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89725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9444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9444D"/>
                </a:solidFill>
                <a:latin typeface="Arial"/>
                <a:ea typeface="Arial"/>
                <a:cs typeface="Arial"/>
              </a:rPr>
              <a:t>+11.4 percentage points</a:t>
            </a:r>
          </a:p>
        </p:txBody>
      </p:sp>
      <p:sp>
        <p:nvSpPr>
          <p:cNvPr id="15" name="pipeline-divider">
            <a:extLst xmlns:a="http://schemas.openxmlformats.org/drawingml/2006/main">
              <a:ext uri="{FF2B5EF4-FFF2-40B4-BE49-F238E27FC236}">
                <a16:creationId xmlns:a16="http://schemas.microsoft.com/office/drawing/2014/main" id="{1D3AD907-3F3B-450E-9AFE-1253F10D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277350"/>
            <a:ext cx="27241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C7EB"/>
            </a:solidFill>
          </a:ln>
        </p:spPr>
      </p:sp>
      <p:sp>
        <p:nvSpPr>
          <p:cNvPr id="16" name="pipeline-result">
            <a:extLst xmlns:a="http://schemas.openxmlformats.org/drawingml/2006/main">
              <a:ext uri="{FF2B5EF4-FFF2-40B4-BE49-F238E27FC236}">
                <a16:creationId xmlns:a16="http://schemas.microsoft.com/office/drawing/2014/main" id="{FB6549AE-9909-483E-8FFF-553F76AE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9363075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2926"/>
                </a:solidFill>
                <a:latin typeface="Arial"/>
                <a:ea typeface="Arial"/>
                <a:cs typeface="Arial"/>
              </a:rPr>
              <a:t>End-to-end alert median lead: −3.3 h</a:t>
            </a:r>
          </a:p>
        </p:txBody>
      </p:sp>
      <p:sp>
        <p:nvSpPr>
          <p:cNvPr id="17" name="evidence-footnote">
            <a:extLst xmlns:a="http://schemas.openxmlformats.org/drawingml/2006/main">
              <a:ext uri="{FF2B5EF4-FFF2-40B4-BE49-F238E27FC236}">
                <a16:creationId xmlns:a16="http://schemas.microsoft.com/office/drawing/2014/main" id="{12F74DE2-7C64-450C-A118-A5B8EE9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9915525"/>
            <a:ext cx="817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Locked synthetic test · tuning raised recall but also false alarms. Negative alert lead means early-warning benefit is not demonstrated; no real-mine validation.</a:t>
            </a:r>
          </a:p>
        </p:txBody>
      </p:sp>
    </p:spTree>
    <p:extLst>
      <p:ext uri="{BB962C8B-B14F-4D97-AF65-F5344CB8AC3E}">
        <p14:creationId xmlns:p14="http://schemas.microsoft.com/office/powerpoint/2010/main" val="963021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2026-09-28T19:07:57.6120000Z</dcterms:created>
  <dcterms:modified xsi:type="dcterms:W3CDTF">2026-09-28T19:07:57.6120000Z</dcterms:modified>
</coreProperties>
</file>