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6fa0ef9aa44e1f" /><Relationship Type="http://schemas.openxmlformats.org/officeDocument/2006/relationships/extended-properties" Target="/docProps/app.xml" Id="R49972683530d4a59" /><Relationship Type="http://schemas.openxmlformats.org/officeDocument/2006/relationships/officeDocument" Target="/ppt/presentation.xml" Id="R52e91c9f0b634e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ad82ba7f8c4ea5"/>
  </p:sldMasterIdLst>
  <p:notesMasterIdLst>
    <p:notesMasterId xmlns:r="http://schemas.openxmlformats.org/officeDocument/2006/relationships" r:id="Rf1b3e15b1fe541df"/>
  </p:notesMasterIdLst>
  <p:sldIdLst>
    <p:sldId xmlns:r="http://schemas.openxmlformats.org/officeDocument/2006/relationships" id="256" r:id="R3676b80f98cb4566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e742eaf8ad4295" /><Relationship Type="http://schemas.openxmlformats.org/officeDocument/2006/relationships/slideMaster" Target="/ppt/slideMasters/slideMaster1.xml" Id="R46ad82ba7f8c4ea5" /><Relationship Type="http://schemas.openxmlformats.org/officeDocument/2006/relationships/notesMaster" Target="/ppt/notesMasters/notesMaster1.xml" Id="Rf1b3e15b1fe541df" /><Relationship Type="http://schemas.openxmlformats.org/officeDocument/2006/relationships/presProps" Target="/ppt/presProps.xml" Id="R4b964da954604560" /><Relationship Type="http://schemas.openxmlformats.org/officeDocument/2006/relationships/tableStyles" Target="/ppt/tableStyles.xml" Id="R3373951e73aa4116" /><Relationship Type="http://schemas.openxmlformats.org/officeDocument/2006/relationships/slide" Target="/ppt/slides/slide1.xml" Id="R3676b80f98cb45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d68199fcaa46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c3209c0baa4b45" /><Relationship Type="http://schemas.openxmlformats.org/officeDocument/2006/relationships/notesMaster" Target="/ppt/notesMasters/notesMaster1.xml" Id="R1b2f08b4d31a46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graphic explains the intended ML benefit pathway, not a demonstrated operational outcome. The current model evaluation uses the synthetic held-out corpus (reports/final_eval.md and reports/test_lock.json, evals_run=1). Source architecture: src/pipeline.py combines model inputs including anomaly_score and physics_residual; src/risk/alert_engine.py applies alert thresholds and persistence; reports/acceptance_criteria.md says there is no early-warning success claim, no physical tabletop/real-mine validation, and the reported locked-test alert median lead is -3.33 hours. The intended user value is helping prioritize patterns for follow-up. No claim is made that the current model has reduced harm, improved early warning, or been used in field operations.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d5257dd9441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96e1aa86342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8edb395a64e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1558e60de4e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24b93cb8741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f6c098f11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1EA6813-F9E5-4776-A66B-5605752A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64A70C-66BA-41BB-9A44-CD7198C0EA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78364A3-AFDC-4219-B93F-4ED31A424A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CA0B46E-E019-4E90-BD96-40C4D12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6E1815-72B5-412B-AC42-2C436DA195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016974E-C569-499C-8A7B-A94EDB9A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F4CD65-25FE-4C1F-A7F6-97C91265AF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0F2D306-D794-4E1F-999F-2A3E5AC3A1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0438A0E-0AE0-4CA1-A500-0D327166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025853-360D-4F54-AAAA-9F5DD3BA4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170B0-83A4-4350-93BE-132DC59CD2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C97793-A714-45A3-B1B0-D4ECC9DBB6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13E7090-BF11-4420-B56F-ABBB81F6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19E407-505E-4F1E-8460-805BA0B969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773029-9676-4268-AA91-2B518520BB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cdcd7895704810" /><Relationship Type="http://schemas.openxmlformats.org/officeDocument/2006/relationships/slideLayout" Target="/ppt/slideLayouts/slideLayout1.xml" Id="R28ca3c1b95f44113" /><Relationship Type="http://schemas.openxmlformats.org/officeDocument/2006/relationships/slideLayout" Target="/ppt/slideLayouts/slideLayout2.xml" Id="Rff021ee3094a484b" /><Relationship Type="http://schemas.openxmlformats.org/officeDocument/2006/relationships/slideLayout" Target="/ppt/slideLayouts/slideLayout3.xml" Id="R75118c23c4fd4e70" /><Relationship Type="http://schemas.openxmlformats.org/officeDocument/2006/relationships/slideLayout" Target="/ppt/slideLayouts/slideLayout4.xml" Id="R38ca16a7c4d34323" /><Relationship Type="http://schemas.openxmlformats.org/officeDocument/2006/relationships/slideLayout" Target="/ppt/slideLayouts/slideLayout5.xml" Id="R633b5bff7ef74376" /><Relationship Type="http://schemas.openxmlformats.org/officeDocument/2006/relationships/slideLayout" Target="/ppt/slideLayouts/slideLayout6.xml" Id="Ra01292e4241d43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a3c1b95f44113"/>
    <p:sldLayoutId xmlns:r="http://schemas.openxmlformats.org/officeDocument/2006/relationships" id="2147483650" r:id="Rff021ee3094a484b"/>
    <p:sldLayoutId xmlns:r="http://schemas.openxmlformats.org/officeDocument/2006/relationships" id="2147483651" r:id="R75118c23c4fd4e70"/>
    <p:sldLayoutId xmlns:r="http://schemas.openxmlformats.org/officeDocument/2006/relationships" id="2147483652" r:id="R38ca16a7c4d34323"/>
    <p:sldLayoutId xmlns:r="http://schemas.openxmlformats.org/officeDocument/2006/relationships" id="2147483653" r:id="R633b5bff7ef74376"/>
    <p:sldLayoutId xmlns:r="http://schemas.openxmlformats.org/officeDocument/2006/relationships" id="2147483654" r:id="Ra01292e4241d43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c4c2a527245f6" /><Relationship Type="http://schemas.openxmlformats.org/officeDocument/2006/relationships/image" Target="/ppt/media/image.png" Id="R0daf660909e7430e" /><Relationship Type="http://schemas.openxmlformats.org/officeDocument/2006/relationships/notesSlide" Target="/ppt/notesSlides/notesSlide1.xml" Id="Rb8b9708b1b4240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f660909e7430e"/>
          <a:srcRect xmlns:a="http://schemas.openxmlformats.org/drawingml/2006/main" l="602" t="0" r="6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cover-marked-box">
            <a:extLst xmlns:a="http://schemas.openxmlformats.org/drawingml/2006/main">
              <a:ext uri="{FF2B5EF4-FFF2-40B4-BE49-F238E27FC236}">
                <a16:creationId xmlns:a16="http://schemas.microsoft.com/office/drawing/2014/main" id="{06D4DEA7-53D3-4C2F-8F62-7E9A3567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15075"/>
            <a:ext cx="9296400" cy="416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impact-graph-panel">
            <a:extLst xmlns:a="http://schemas.openxmlformats.org/drawingml/2006/main">
              <a:ext uri="{FF2B5EF4-FFF2-40B4-BE49-F238E27FC236}">
                <a16:creationId xmlns:a16="http://schemas.microsoft.com/office/drawing/2014/main" id="{35859978-0854-4BAD-A099-E8A44D58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29375"/>
            <a:ext cx="917257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4F0FC"/>
          </a:solidFill>
          <a:ln xmlns:a="http://schemas.openxmlformats.org/drawingml/2006/main" w="28575">
            <a:solidFill>
              <a:srgbClr val="D9C8FC"/>
            </a:solidFill>
          </a:ln>
        </p:spPr>
      </p:sp>
      <p:sp>
        <p:nvSpPr>
          <p:cNvPr id="4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1A8C2B4E-65BD-4E28-9417-4E196003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72250"/>
            <a:ext cx="823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HOW ML COULD HELP</a:t>
            </a:r>
          </a:p>
        </p:txBody>
      </p:sp>
      <p:sp>
        <p:nvSpPr>
          <p:cNvPr id="5" name="graph-subheading">
            <a:extLst xmlns:a="http://schemas.openxmlformats.org/drawingml/2006/main">
              <a:ext uri="{FF2B5EF4-FFF2-40B4-BE49-F238E27FC236}">
                <a16:creationId xmlns:a16="http://schemas.microsoft.com/office/drawing/2014/main" id="{1379ABEB-F37E-4AD1-BA9B-E311667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858000"/>
            <a:ext cx="823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4515F"/>
                </a:solidFill>
                <a:latin typeface="Arial"/>
                <a:ea typeface="Arial"/>
                <a:cs typeface="Arial"/>
              </a:rPr>
              <a:t>From sensor-like data to a risk pattern for review</a:t>
            </a:r>
          </a:p>
        </p:txBody>
      </p:sp>
      <p:sp>
        <p:nvSpPr>
          <p:cNvPr id="6" name="benefit-stage-1">
            <a:extLst xmlns:a="http://schemas.openxmlformats.org/drawingml/2006/main">
              <a:ext uri="{FF2B5EF4-FFF2-40B4-BE49-F238E27FC236}">
                <a16:creationId xmlns:a16="http://schemas.microsoft.com/office/drawing/2014/main" id="{104D6E20-61D3-4D58-BC18-A76C25F1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4295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F4E0"/>
          </a:solidFill>
          <a:ln xmlns:a="http://schemas.openxmlformats.org/drawingml/2006/main" w="19050">
            <a:solidFill>
              <a:srgbClr val="91C879"/>
            </a:solidFill>
          </a:ln>
        </p:spPr>
      </p:sp>
      <p:sp>
        <p:nvSpPr>
          <p:cNvPr id="7" name="benefit-stage-1-title">
            <a:extLst xmlns:a="http://schemas.openxmlformats.org/drawingml/2006/main">
              <a:ext uri="{FF2B5EF4-FFF2-40B4-BE49-F238E27FC236}">
                <a16:creationId xmlns:a16="http://schemas.microsoft.com/office/drawing/2014/main" id="{0D0F49A4-E4C2-4330-912D-2D97C584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572375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35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53E"/>
                </a:solidFill>
                <a:latin typeface="Arial"/>
                <a:ea typeface="Arial"/>
                <a:cs typeface="Arial"/>
              </a:rPr>
              <a:t>1  INPUT</a:t>
            </a:r>
          </a:p>
        </p:txBody>
      </p:sp>
      <p:sp>
        <p:nvSpPr>
          <p:cNvPr id="8" name="benefit-stage-1-detail">
            <a:extLst xmlns:a="http://schemas.openxmlformats.org/drawingml/2006/main">
              <a:ext uri="{FF2B5EF4-FFF2-40B4-BE49-F238E27FC236}">
                <a16:creationId xmlns:a16="http://schemas.microsoft.com/office/drawing/2014/main" id="{5F26E858-89EE-4CD2-A33A-5DF81833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867650"/>
            <a:ext cx="1581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Simulated sensor patterns</a:t>
            </a:r>
          </a:p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(current model evidence)</a:t>
            </a:r>
          </a:p>
        </p:txBody>
      </p:sp>
      <p:sp>
        <p:nvSpPr>
          <p:cNvPr id="9" name="benefit-stage-2">
            <a:extLst xmlns:a="http://schemas.openxmlformats.org/drawingml/2006/main">
              <a:ext uri="{FF2B5EF4-FFF2-40B4-BE49-F238E27FC236}">
                <a16:creationId xmlns:a16="http://schemas.microsoft.com/office/drawing/2014/main" id="{4125495D-7DF7-4859-A808-2BD67CDF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74295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9050">
            <a:solidFill>
              <a:srgbClr val="8AB6CE"/>
            </a:solidFill>
          </a:ln>
        </p:spPr>
      </p:sp>
      <p:sp>
        <p:nvSpPr>
          <p:cNvPr id="10" name="benefit-stage-2-title">
            <a:extLst xmlns:a="http://schemas.openxmlformats.org/drawingml/2006/main">
              <a:ext uri="{FF2B5EF4-FFF2-40B4-BE49-F238E27FC236}">
                <a16:creationId xmlns:a16="http://schemas.microsoft.com/office/drawing/2014/main" id="{8F4704E1-29F3-4923-92E3-22F1E749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572375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35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53E"/>
                </a:solidFill>
                <a:latin typeface="Arial"/>
                <a:ea typeface="Arial"/>
                <a:cs typeface="Arial"/>
              </a:rPr>
              <a:t>2  ML SCREENS</a:t>
            </a:r>
          </a:p>
        </p:txBody>
      </p:sp>
      <p:sp>
        <p:nvSpPr>
          <p:cNvPr id="11" name="benefit-stage-2-detail">
            <a:extLst xmlns:a="http://schemas.openxmlformats.org/drawingml/2006/main">
              <a:ext uri="{FF2B5EF4-FFF2-40B4-BE49-F238E27FC236}">
                <a16:creationId xmlns:a16="http://schemas.microsoft.com/office/drawing/2014/main" id="{285ED21C-2A58-4E82-A90B-74D4A167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867650"/>
            <a:ext cx="1581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Anomaly score +</a:t>
            </a:r>
          </a:p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physics check +</a:t>
            </a:r>
          </a:p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risk classification</a:t>
            </a:r>
          </a:p>
        </p:txBody>
      </p:sp>
      <p:sp>
        <p:nvSpPr>
          <p:cNvPr id="12" name="benefit-stage-3">
            <a:extLst xmlns:a="http://schemas.openxmlformats.org/drawingml/2006/main">
              <a:ext uri="{FF2B5EF4-FFF2-40B4-BE49-F238E27FC236}">
                <a16:creationId xmlns:a16="http://schemas.microsoft.com/office/drawing/2014/main" id="{EB7EF1A0-48EA-44D1-9EC0-A313965F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4295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1E2"/>
          </a:solidFill>
          <a:ln xmlns:a="http://schemas.openxmlformats.org/drawingml/2006/main" w="19050">
            <a:solidFill>
              <a:srgbClr val="D7B36E"/>
            </a:solidFill>
          </a:ln>
        </p:spPr>
      </p:sp>
      <p:sp>
        <p:nvSpPr>
          <p:cNvPr id="13" name="benefit-stage-3-title">
            <a:extLst xmlns:a="http://schemas.openxmlformats.org/drawingml/2006/main">
              <a:ext uri="{FF2B5EF4-FFF2-40B4-BE49-F238E27FC236}">
                <a16:creationId xmlns:a16="http://schemas.microsoft.com/office/drawing/2014/main" id="{3B5EB26D-33AD-4E66-9A73-0E64BF2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572375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35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53E"/>
                </a:solidFill>
                <a:latin typeface="Arial"/>
                <a:ea typeface="Arial"/>
                <a:cs typeface="Arial"/>
              </a:rPr>
              <a:t>3  ALERT LOGIC</a:t>
            </a:r>
          </a:p>
        </p:txBody>
      </p:sp>
      <p:sp>
        <p:nvSpPr>
          <p:cNvPr id="14" name="benefit-stage-3-detail">
            <a:extLst xmlns:a="http://schemas.openxmlformats.org/drawingml/2006/main">
              <a:ext uri="{FF2B5EF4-FFF2-40B4-BE49-F238E27FC236}">
                <a16:creationId xmlns:a16="http://schemas.microsoft.com/office/drawing/2014/main" id="{CFD7AAEC-2BDF-4051-B6AC-35933CA9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7867650"/>
            <a:ext cx="1581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Combines repeated</a:t>
            </a:r>
          </a:p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risk into an alert</a:t>
            </a:r>
          </a:p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level</a:t>
            </a:r>
          </a:p>
        </p:txBody>
      </p:sp>
      <p:sp>
        <p:nvSpPr>
          <p:cNvPr id="15" name="benefit-stage-4">
            <a:extLst xmlns:a="http://schemas.openxmlformats.org/drawingml/2006/main">
              <a:ext uri="{FF2B5EF4-FFF2-40B4-BE49-F238E27FC236}">
                <a16:creationId xmlns:a16="http://schemas.microsoft.com/office/drawing/2014/main" id="{C50DBC23-0B3B-4A44-A5AC-9D89E521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74295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FE9FA"/>
          </a:solidFill>
          <a:ln xmlns:a="http://schemas.openxmlformats.org/drawingml/2006/main" w="19050">
            <a:solidFill>
              <a:srgbClr val="B8A3D9"/>
            </a:solidFill>
          </a:ln>
        </p:spPr>
      </p:sp>
      <p:sp>
        <p:nvSpPr>
          <p:cNvPr id="16" name="benefit-stage-4-title">
            <a:extLst xmlns:a="http://schemas.openxmlformats.org/drawingml/2006/main">
              <a:ext uri="{FF2B5EF4-FFF2-40B4-BE49-F238E27FC236}">
                <a16:creationId xmlns:a16="http://schemas.microsoft.com/office/drawing/2014/main" id="{5A8AC727-41BA-4D78-8EDF-4DDF1A84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7572375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35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53E"/>
                </a:solidFill>
                <a:latin typeface="Arial"/>
                <a:ea typeface="Arial"/>
                <a:cs typeface="Arial"/>
              </a:rPr>
              <a:t>4  HUMAN REVIEW</a:t>
            </a:r>
          </a:p>
        </p:txBody>
      </p:sp>
      <p:sp>
        <p:nvSpPr>
          <p:cNvPr id="17" name="benefit-stage-4-detail">
            <a:extLst xmlns:a="http://schemas.openxmlformats.org/drawingml/2006/main">
              <a:ext uri="{FF2B5EF4-FFF2-40B4-BE49-F238E27FC236}">
                <a16:creationId xmlns:a16="http://schemas.microsoft.com/office/drawing/2014/main" id="{4E85480C-25A8-4178-B8C4-4DA7C50C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7867650"/>
            <a:ext cx="1581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Could help focus</a:t>
            </a:r>
          </a:p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which patterns need</a:t>
            </a:r>
          </a:p>
          <a:p xmlns:a="http://schemas.openxmlformats.org/drawingml/2006/main">
            <a:pPr algn="ctr">
              <a:defRPr sz="975" b="0">
                <a:solidFill>
                  <a:srgbClr val="3F4B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F4B54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18" name="benefit-flow-arrow-1">
            <a:extLst xmlns:a="http://schemas.openxmlformats.org/drawingml/2006/main">
              <a:ext uri="{FF2B5EF4-FFF2-40B4-BE49-F238E27FC236}">
                <a16:creationId xmlns:a16="http://schemas.microsoft.com/office/drawing/2014/main" id="{41FC655E-E924-4667-8894-459867D5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829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6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8A5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8A5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benefit-flow-arrow-2">
            <a:extLst xmlns:a="http://schemas.openxmlformats.org/drawingml/2006/main">
              <a:ext uri="{FF2B5EF4-FFF2-40B4-BE49-F238E27FC236}">
                <a16:creationId xmlns:a16="http://schemas.microsoft.com/office/drawing/2014/main" id="{5ABB74C7-1942-4FC9-9188-C7C46FA0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829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6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8A5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8A5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benefit-flow-arrow-3">
            <a:extLst xmlns:a="http://schemas.openxmlformats.org/drawingml/2006/main">
              <a:ext uri="{FF2B5EF4-FFF2-40B4-BE49-F238E27FC236}">
                <a16:creationId xmlns:a16="http://schemas.microsoft.com/office/drawing/2014/main" id="{66DE773A-B8FC-41B9-94F3-3A45439D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7829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63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8A5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8A5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benefit-status-divider">
            <a:extLst xmlns:a="http://schemas.openxmlformats.org/drawingml/2006/main">
              <a:ext uri="{FF2B5EF4-FFF2-40B4-BE49-F238E27FC236}">
                <a16:creationId xmlns:a16="http://schemas.microsoft.com/office/drawing/2014/main" id="{54A69043-C650-43E9-9FC6-99D32D5B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858250"/>
            <a:ext cx="81724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C7EB"/>
            </a:solidFill>
          </a:ln>
        </p:spPr>
      </p:sp>
      <p:sp>
        <p:nvSpPr>
          <p:cNvPr id="22" name="benefit-label">
            <a:extLst xmlns:a="http://schemas.openxmlformats.org/drawingml/2006/main">
              <a:ext uri="{FF2B5EF4-FFF2-40B4-BE49-F238E27FC236}">
                <a16:creationId xmlns:a16="http://schemas.microsoft.com/office/drawing/2014/main" id="{CE05F549-6FEB-44FA-8018-B79127D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029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POSSIBLE BENEFIT</a:t>
            </a:r>
          </a:p>
        </p:txBody>
      </p:sp>
      <p:sp>
        <p:nvSpPr>
          <p:cNvPr id="23" name="benefit-explanation">
            <a:extLst xmlns:a="http://schemas.openxmlformats.org/drawingml/2006/main">
              <a:ext uri="{FF2B5EF4-FFF2-40B4-BE49-F238E27FC236}">
                <a16:creationId xmlns:a16="http://schemas.microsoft.com/office/drawing/2014/main" id="{E1D350A8-6045-4F91-8F96-F3B142A9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286875"/>
            <a:ext cx="817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32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323B"/>
                </a:solidFill>
                <a:latin typeface="Arial"/>
                <a:ea typeface="Arial"/>
                <a:cs typeface="Arial"/>
              </a:rPr>
              <a:t>Highlight changing risk patterns so teams can prioritize follow-up.</a:t>
            </a:r>
          </a:p>
        </p:txBody>
      </p:sp>
      <p:sp>
        <p:nvSpPr>
          <p:cNvPr id="24" name="benefit-evidence">
            <a:extLst xmlns:a="http://schemas.openxmlformats.org/drawingml/2006/main">
              <a:ext uri="{FF2B5EF4-FFF2-40B4-BE49-F238E27FC236}">
                <a16:creationId xmlns:a16="http://schemas.microsoft.com/office/drawing/2014/main" id="{877FCC9B-766E-44DF-ABC9-BBBE1F13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658350"/>
            <a:ext cx="817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D2926"/>
                </a:solidFill>
                <a:latin typeface="Arial"/>
                <a:ea typeface="Arial"/>
                <a:cs typeface="Arial"/>
              </a:rPr>
              <a:t>Evidence today: synthetic tests only. Earlier warning and real-mine benefit are not demonstrated.</a:t>
            </a:r>
          </a:p>
        </p:txBody>
      </p:sp>
    </p:spTree>
    <p:extLst>
      <p:ext uri="{BB962C8B-B14F-4D97-AF65-F5344CB8AC3E}">
        <p14:creationId xmlns:p14="http://schemas.microsoft.com/office/powerpoint/2010/main" val="38093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2026-09-28T19:22:14.2590000Z</dcterms:created>
  <dcterms:modified xsi:type="dcterms:W3CDTF">2026-09-28T19:22:14.2590000Z</dcterms:modified>
</coreProperties>
</file>