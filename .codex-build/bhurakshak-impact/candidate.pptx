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faed57807054f32" /><Relationship Type="http://schemas.openxmlformats.org/officeDocument/2006/relationships/extended-properties" Target="/docProps/app.xml" Id="R686cfbc8e62f4ecd" /><Relationship Type="http://schemas.openxmlformats.org/officeDocument/2006/relationships/officeDocument" Target="/ppt/presentation.xml" Id="R73094f1c122547b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79b58a197244724"/>
  </p:sldMasterIdLst>
  <p:notesMasterIdLst>
    <p:notesMasterId xmlns:r="http://schemas.openxmlformats.org/officeDocument/2006/relationships" r:id="Rdefb85b8092c4aa8"/>
  </p:notesMasterIdLst>
  <p:sldIdLst>
    <p:sldId xmlns:r="http://schemas.openxmlformats.org/officeDocument/2006/relationships" id="256" r:id="R8a5e7efa5a904946"/>
  </p:sldIdLst>
  <p:sldSz cx="18288000" cy="10287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2d8614e39af475d" /><Relationship Type="http://schemas.openxmlformats.org/officeDocument/2006/relationships/slideMaster" Target="/ppt/slideMasters/slideMaster1.xml" Id="Rb79b58a197244724" /><Relationship Type="http://schemas.openxmlformats.org/officeDocument/2006/relationships/notesMaster" Target="/ppt/notesMasters/notesMaster1.xml" Id="Rdefb85b8092c4aa8" /><Relationship Type="http://schemas.openxmlformats.org/officeDocument/2006/relationships/presProps" Target="/ppt/presProps.xml" Id="R191196beb77343bb" /><Relationship Type="http://schemas.openxmlformats.org/officeDocument/2006/relationships/tableStyles" Target="/ppt/tableStyles.xml" Id="Rb51cf15361e6447a" /><Relationship Type="http://schemas.openxmlformats.org/officeDocument/2006/relationships/slide" Target="/ppt/slides/slide1.xml" Id="R8a5e7efa5a90494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8a8eb7f09d048f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0893ae83ff242e5" /><Relationship Type="http://schemas.openxmlformats.org/officeDocument/2006/relationships/notesMaster" Target="/ppt/notesMasters/notesMaster1.xml" Id="Rb448f8d6cea844b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Impact chain is a proposed system pathway. Current software evaluation is on a held-out synthetic corpus only. No physical or mine-site validation is established. Alert levels are intended risk categories and do not predict exact collapse time.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a4f3a9602794cb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9dc6e9fea29440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4221a9c45cc4b3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f67cf7f98474fb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634bf3a8787440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c56bdf59c794b7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74CF9CE4-F744-4A24-B703-D5E526468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314700"/>
            <a:ext cx="91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E282FA1D-5FAC-4797-B760-37F3346EB1B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28800" y="3886200"/>
            <a:ext cx="146304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3B89FAEB-C08F-4552-9737-11AE58E85E2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743200" y="5657850"/>
            <a:ext cx="12801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Accent rule">
            <a:extLst xmlns:a="http://schemas.openxmlformats.org/drawingml/2006/main">
              <a:ext uri="{FF2B5EF4-FFF2-40B4-BE49-F238E27FC236}">
                <a16:creationId xmlns:a16="http://schemas.microsoft.com/office/drawing/2014/main" id="{2C512AF9-A039-46ED-BB00-7C5111456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714750"/>
            <a:ext cx="91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553F974D-45DB-4846-A3F1-BC9F9E3E87F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28800" y="4286250"/>
            <a:ext cx="146304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597CFB77-018D-43F8-BDC5-F11F8D1C4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286000"/>
            <a:ext cx="91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7CBDE538-327A-4065-82FB-446B6058A7D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800100"/>
            <a:ext cx="162306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D5C5F71F-55EA-407C-83CA-7B75F9F095D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8700" y="2857500"/>
            <a:ext cx="162306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342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1pPr>
            <a:lvl2pPr marL="800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2pPr>
            <a:lvl3pPr marL="1257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3pPr>
            <a:lvl4pPr marL="1714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4pPr>
            <a:lvl5pPr marL="21717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5pPr>
            <a:lvl6pPr marL="2628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6pPr>
            <a:lvl7pPr marL="3086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7pPr>
            <a:lvl8pPr marL="3543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8pPr>
            <a:lvl9pPr marL="4000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Accent rule">
            <a:extLst xmlns:a="http://schemas.openxmlformats.org/drawingml/2006/main">
              <a:ext uri="{FF2B5EF4-FFF2-40B4-BE49-F238E27FC236}">
                <a16:creationId xmlns:a16="http://schemas.microsoft.com/office/drawing/2014/main" id="{369D59AB-659B-48C0-8C61-77B23E27D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286000"/>
            <a:ext cx="91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2D7A7B55-8A79-4C7A-9B63-0DA1FDECDDE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800100"/>
            <a:ext cx="162306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0FDDCA4-A95D-4A8C-8C48-7E1F2CB0682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8700" y="2857500"/>
            <a:ext cx="75438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342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1pPr>
            <a:lvl2pPr marL="800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2pPr>
            <a:lvl3pPr marL="1257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3pPr>
            <a:lvl4pPr marL="1714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4pPr>
            <a:lvl5pPr marL="21717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5pPr>
            <a:lvl6pPr marL="2628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6pPr>
            <a:lvl7pPr marL="3086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7pPr>
            <a:lvl8pPr marL="3543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8pPr>
            <a:lvl9pPr marL="4000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4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3C767913-7289-47AE-B3C7-085BB36FE12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9715500" y="2857500"/>
            <a:ext cx="75438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342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1pPr>
            <a:lvl2pPr marL="800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2pPr>
            <a:lvl3pPr marL="1257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3pPr>
            <a:lvl4pPr marL="1714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4pPr>
            <a:lvl5pPr marL="21717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5pPr>
            <a:lvl6pPr marL="2628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6pPr>
            <a:lvl7pPr marL="3086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7pPr>
            <a:lvl8pPr marL="3543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8pPr>
            <a:lvl9pPr marL="4000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B8B66DFD-0D9B-4C3B-BEBD-62527EB91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286000"/>
            <a:ext cx="91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3A0154F3-037D-47D6-A8EE-4DEDD90A151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800100"/>
            <a:ext cx="162306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DA541F5-28F8-4221-ACCC-6B79BE1EE7C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8700" y="2857500"/>
            <a:ext cx="75438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342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1pPr>
            <a:lvl2pPr marL="800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2pPr>
            <a:lvl3pPr marL="1257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3pPr>
            <a:lvl4pPr marL="1714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4pPr>
            <a:lvl5pPr marL="21717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5pPr>
            <a:lvl6pPr marL="2628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6pPr>
            <a:lvl7pPr marL="3086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7pPr>
            <a:lvl8pPr marL="3543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8pPr>
            <a:lvl9pPr marL="4000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b630d3845044453" /><Relationship Type="http://schemas.openxmlformats.org/officeDocument/2006/relationships/slideLayout" Target="/ppt/slideLayouts/slideLayout1.xml" Id="Re3ca937f39b845b2" /><Relationship Type="http://schemas.openxmlformats.org/officeDocument/2006/relationships/slideLayout" Target="/ppt/slideLayouts/slideLayout2.xml" Id="Rc83819a738dc4ca6" /><Relationship Type="http://schemas.openxmlformats.org/officeDocument/2006/relationships/slideLayout" Target="/ppt/slideLayouts/slideLayout3.xml" Id="Ra7a997062bf743f0" /><Relationship Type="http://schemas.openxmlformats.org/officeDocument/2006/relationships/slideLayout" Target="/ppt/slideLayouts/slideLayout4.xml" Id="R721a2892e4724e8c" /><Relationship Type="http://schemas.openxmlformats.org/officeDocument/2006/relationships/slideLayout" Target="/ppt/slideLayouts/slideLayout5.xml" Id="R8b95d2c2c6df45c4" /><Relationship Type="http://schemas.openxmlformats.org/officeDocument/2006/relationships/slideLayout" Target="/ppt/slideLayouts/slideLayout6.xml" Id="R9cfae1381fec464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3ca937f39b845b2"/>
    <p:sldLayoutId xmlns:r="http://schemas.openxmlformats.org/officeDocument/2006/relationships" id="2147483650" r:id="Rc83819a738dc4ca6"/>
    <p:sldLayoutId xmlns:r="http://schemas.openxmlformats.org/officeDocument/2006/relationships" id="2147483651" r:id="Ra7a997062bf743f0"/>
    <p:sldLayoutId xmlns:r="http://schemas.openxmlformats.org/officeDocument/2006/relationships" id="2147483652" r:id="R721a2892e4724e8c"/>
    <p:sldLayoutId xmlns:r="http://schemas.openxmlformats.org/officeDocument/2006/relationships" id="2147483653" r:id="R8b95d2c2c6df45c4"/>
    <p:sldLayoutId xmlns:r="http://schemas.openxmlformats.org/officeDocument/2006/relationships" id="2147483654" r:id="R9cfae1381fec464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7f1ef69cc114f08" /><Relationship Type="http://schemas.openxmlformats.org/officeDocument/2006/relationships/notesSlide" Target="/ppt/notesSlides/notesSlide1.xml" Id="Rc897cb805dac44b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8CB88D04-D03B-4517-8858-CAB00A828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3400"/>
            <a:ext cx="762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7A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D2CA56-17D5-4251-B6CA-A9ACE9357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4825"/>
            <a:ext cx="609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47A4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247A48"/>
                </a:solidFill>
                <a:latin typeface="Helvetica Neue"/>
                <a:ea typeface="Helvetica Neue"/>
                <a:cs typeface="Helvetica Neue"/>
              </a:rPr>
              <a:t>BHURAKSHAK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DBEC46-EF81-40C6-B214-67D6F37FD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009650"/>
            <a:ext cx="12382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73746"/>
                </a:solidFill>
                <a:latin typeface="Helvetica Neue"/>
                <a:ea typeface="Helvetica Neue"/>
                <a:cs typeface="Helvetica Neue"/>
              </a:rPr>
              <a:t>Mine subsidence monitoring · intended impact pathway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FD71F0-536C-4A03-BE9D-9C96C1957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657225"/>
            <a:ext cx="3810000" cy="514350"/>
          </a:xfrm>
          <a:prstGeom xmlns:a="http://schemas.openxmlformats.org/drawingml/2006/main" prst="roundRect">
            <a:avLst>
              <a:gd name="adj" fmla="val 37037"/>
            </a:avLst>
          </a:prstGeom>
          <a:solidFill xmlns:a="http://schemas.openxmlformats.org/drawingml/2006/main">
            <a:srgbClr val="EDF4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2A342A-2E97-43F0-9AD3-170246394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676275"/>
            <a:ext cx="342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3B83A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3B83A7"/>
                </a:solidFill>
                <a:latin typeface="Helvetica Neue"/>
                <a:ea typeface="Helvetica Neue"/>
                <a:cs typeface="Helvetica Neue"/>
              </a:rPr>
              <a:t>DESIGNED SYSTEM · NOT A FIELD RESULT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09FEE9-E943-4A65-A188-87DE7D6D2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43075"/>
            <a:ext cx="166116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6707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6707C"/>
                </a:solidFill>
                <a:latin typeface="Helvetica Neue"/>
                <a:ea typeface="Helvetica Neue"/>
                <a:cs typeface="Helvetica Neue"/>
              </a:rPr>
              <a:t>Sensor signals move through anomaly detection and risk assessment to human review. The impact is potential until physically and operationally validated.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8D6383-E12A-4051-9B28-B15DD12C1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14650"/>
            <a:ext cx="2552700" cy="3371850"/>
          </a:xfrm>
          <a:prstGeom xmlns:a="http://schemas.openxmlformats.org/drawingml/2006/main" prst="roundRect">
            <a:avLst>
              <a:gd name="adj" fmla="val 5224"/>
            </a:avLst>
          </a:prstGeom>
          <a:solidFill xmlns:a="http://schemas.openxmlformats.org/drawingml/2006/main">
            <a:srgbClr val="F8FBF9"/>
          </a:solidFill>
          <a:ln xmlns:a="http://schemas.openxmlformats.org/drawingml/2006/main" w="19050">
            <a:solidFill>
              <a:srgbClr val="D9E4E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80AC72-10AE-44D9-9B02-0B1C75CB7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14650"/>
            <a:ext cx="57150" cy="3371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7A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6856AE-F759-414D-BDCF-F4D8D4258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242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A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D3B673-00C7-45D7-8305-8658CC0C1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242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4CB3D1-D616-4FAC-9215-2FF00FF5A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3276600"/>
            <a:ext cx="514350" cy="400050"/>
          </a:xfrm>
          <a:prstGeom xmlns:a="http://schemas.openxmlformats.org/drawingml/2006/main" prst="roundRect">
            <a:avLst>
              <a:gd name="adj" fmla="val 11905"/>
            </a:avLst>
          </a:prstGeom>
          <a:noFill xmlns:a="http://schemas.openxmlformats.org/drawingml/2006/main"/>
          <a:ln xmlns:a="http://schemas.openxmlformats.org/drawingml/2006/main" w="28575">
            <a:solidFill>
              <a:srgbClr val="247A4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B46A49-D297-4084-BAD9-55E5D18A6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3371850"/>
            <a:ext cx="133350" cy="1333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47A4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E9B513-64F6-4BB4-933F-E603A1F73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533525" y="3219450"/>
            <a:ext cx="953" cy="57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B9FAA2-5C50-422B-9E45-C970D55ED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857375" y="3219450"/>
            <a:ext cx="953" cy="57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7DDE3E-1EB0-4F0D-8538-FB1E0248D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533525" y="3676650"/>
            <a:ext cx="953" cy="66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044F8E-EF42-4B9B-B2AB-4FA51F8EE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857375" y="3676650"/>
            <a:ext cx="953" cy="66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26E6BC-04B3-43EB-9F38-5E4D6A596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381125" y="3371850"/>
            <a:ext cx="571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ECE824-97D6-43EC-801F-FB16E180D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381125" y="3581400"/>
            <a:ext cx="571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CBC254C-96FF-47A3-8CFB-1C221E644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952625" y="3371850"/>
            <a:ext cx="571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51E4D1A-1BB2-4849-B297-4F5D88C0E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952625" y="3581400"/>
            <a:ext cx="571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08598C4-D87A-4A01-B70C-CA75E875A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62400"/>
            <a:ext cx="2209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47A4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247A48"/>
                </a:solidFill>
                <a:latin typeface="Helvetica Neue"/>
                <a:ea typeface="Helvetica Neue"/>
                <a:cs typeface="Helvetica Neue"/>
              </a:rPr>
              <a:t>SENSOR MONITORING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C99B898-93F0-48CF-BDE6-3E17B916D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62000" y="4543425"/>
            <a:ext cx="20955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9E4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82299F3-92AA-4A0F-9397-96DA204AA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4743450"/>
            <a:ext cx="2114550" cy="1323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E303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E3039"/>
                </a:solidFill>
                <a:latin typeface="Helvetica Neue"/>
                <a:ea typeface="Helvetica Neue"/>
                <a:cs typeface="Helvetica Neue"/>
              </a:rPr>
              <a:t>Designed for continuous tilt, vibration, crack-change and displacement readings.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96E97B3-8C66-454B-A1EB-57E98303A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914650"/>
            <a:ext cx="2552700" cy="3371850"/>
          </a:xfrm>
          <a:prstGeom xmlns:a="http://schemas.openxmlformats.org/drawingml/2006/main" prst="roundRect">
            <a:avLst>
              <a:gd name="adj" fmla="val 5224"/>
            </a:avLst>
          </a:prstGeom>
          <a:solidFill xmlns:a="http://schemas.openxmlformats.org/drawingml/2006/main">
            <a:srgbClr val="EDF4F8"/>
          </a:solidFill>
          <a:ln xmlns:a="http://schemas.openxmlformats.org/drawingml/2006/main" w="19050">
            <a:solidFill>
              <a:srgbClr val="D9E4E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806A633-7F03-41D3-9230-ADD76E383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914650"/>
            <a:ext cx="57150" cy="3371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3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02D5F3C-1BB8-4897-B41C-20ACB0601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242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B83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5CAE1E5-2403-4462-B64C-7E4ABAE8C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242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A42E89A-5EB7-459C-9C90-E0922FA83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3286125"/>
            <a:ext cx="342900" cy="3429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B83A7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A29FA1D-BBE7-47DD-8249-9D59763BB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648200" y="3571875"/>
            <a:ext cx="180975" cy="1809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B83A7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D3B06B6-34CD-468D-9897-296CB31BB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438650" y="3476625"/>
            <a:ext cx="6667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B83A7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DA799DC-7A58-4B72-B529-4D7093E12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4505325" y="3400425"/>
            <a:ext cx="38100" cy="76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B83A7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B24A1D9-05E5-41B0-BBEC-E12348FC9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543425" y="3400425"/>
            <a:ext cx="57150" cy="114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B83A7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98CB238-20EE-4838-9565-2342F8E82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962400"/>
            <a:ext cx="2209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3B83A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3B83A7"/>
                </a:solidFill>
                <a:latin typeface="Helvetica Neue"/>
                <a:ea typeface="Helvetica Neue"/>
                <a:cs typeface="Helvetica Neue"/>
              </a:rPr>
              <a:t>DEFORMATION DETECTION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640F533-4E6A-4AB7-9929-B22587D86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657600" y="4543425"/>
            <a:ext cx="20955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9E4E0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0C8F5A3-00E1-46D8-A098-1F4B744C9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4743450"/>
            <a:ext cx="2114550" cy="1323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E303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E3039"/>
                </a:solidFill>
                <a:latin typeface="Helvetica Neue"/>
                <a:ea typeface="Helvetica Neue"/>
                <a:cs typeface="Helvetica Neue"/>
              </a:rPr>
              <a:t>Isolation Forest flags unusual patterns in the sensor readings.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54765FD-0EB3-48B2-8903-98A0077DB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914650"/>
            <a:ext cx="2552700" cy="3371850"/>
          </a:xfrm>
          <a:prstGeom xmlns:a="http://schemas.openxmlformats.org/drawingml/2006/main" prst="roundRect">
            <a:avLst>
              <a:gd name="adj" fmla="val 5224"/>
            </a:avLst>
          </a:prstGeom>
          <a:solidFill xmlns:a="http://schemas.openxmlformats.org/drawingml/2006/main">
            <a:srgbClr val="EAF3F7"/>
          </a:solidFill>
          <a:ln xmlns:a="http://schemas.openxmlformats.org/drawingml/2006/main" w="19050">
            <a:solidFill>
              <a:srgbClr val="D9E4E0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BDC3D1D-1B41-4167-BA4F-69BBAD6BF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914650"/>
            <a:ext cx="57150" cy="3371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3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4BB9CD1-C371-4AA6-8F9B-CAF8627AA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1242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B83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190048F-1D57-4FB6-A53B-D5EA5B4B7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1242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29B54C0-5819-4688-B5A0-DB93A2EA7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33337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B83A7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1F3442E-DACA-4DBE-926B-98FDFEBDA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36004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B83A7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7E6AF24-3237-4E1C-AAF2-F7061C12D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4671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B83A7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FA85653-2A15-459B-B272-BD9CE1C26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34671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B83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4CD42B7-DA8B-487A-90C0-D10AA2D74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362825" y="3390900"/>
            <a:ext cx="161925" cy="1047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B83A7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8C18139-27ED-4873-BD39-4A2AA3BD8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7362825" y="3543300"/>
            <a:ext cx="161925" cy="114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B83A7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22F6B41-3E79-4DA7-8F76-41A2F9110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658100" y="3533775"/>
            <a:ext cx="12382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B83A7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E7063EF-57D9-4B4A-B7BC-8CF2B8B03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962400"/>
            <a:ext cx="2209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3B83A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3B83A7"/>
                </a:solidFill>
                <a:latin typeface="Helvetica Neue"/>
                <a:ea typeface="Helvetica Neue"/>
                <a:cs typeface="Helvetica Neue"/>
              </a:rPr>
              <a:t>RISK ASSESSMENT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F43C873-C9A4-418E-AE8C-859CEB7F7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553200" y="4543425"/>
            <a:ext cx="20955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9E4E0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7482CC6-A2D5-455D-8F28-2EA96658A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4743450"/>
            <a:ext cx="2114550" cy="1323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E303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E3039"/>
                </a:solidFill>
                <a:latin typeface="Helvetica Neue"/>
                <a:ea typeface="Helvetica Neue"/>
                <a:cs typeface="Helvetica Neue"/>
              </a:rPr>
              <a:t>XGBoost assigns a risk class; physics checks screen for implausible signals.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8B2A7B3-15A5-4931-8FD0-81ED0E47F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914650"/>
            <a:ext cx="2552700" cy="3371850"/>
          </a:xfrm>
          <a:prstGeom xmlns:a="http://schemas.openxmlformats.org/drawingml/2006/main" prst="roundRect">
            <a:avLst>
              <a:gd name="adj" fmla="val 5224"/>
            </a:avLst>
          </a:prstGeom>
          <a:solidFill xmlns:a="http://schemas.openxmlformats.org/drawingml/2006/main">
            <a:srgbClr val="FBF7EF"/>
          </a:solidFill>
          <a:ln xmlns:a="http://schemas.openxmlformats.org/drawingml/2006/main" w="19050">
            <a:solidFill>
              <a:srgbClr val="D9E4E0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F88A216-A9F8-4AD3-84A7-869C0EA7D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914650"/>
            <a:ext cx="57150" cy="3371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79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3938A26-EC49-45FE-883D-4B35BA0E3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1242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79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BE1905A-EA17-4FD1-A9BD-31747FB62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1242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32C0622-323E-492A-9A7D-96203CF46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3286125"/>
            <a:ext cx="533400" cy="476250"/>
          </a:xfrm>
          <a:prstGeom xmlns:a="http://schemas.openxmlformats.org/drawingml/2006/main" prst="triangl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B87922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9878E5B-208B-4888-B7A1-15ED2AC70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3419475"/>
            <a:ext cx="38100" cy="1619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879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9A34EAF-B18F-447C-8C8E-BF9CC05AF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361950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79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76CFA908-7D69-4A9B-A9E7-A260FB070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962400"/>
            <a:ext cx="2209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B879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B87922"/>
                </a:solidFill>
                <a:latin typeface="Helvetica Neue"/>
                <a:ea typeface="Helvetica Neue"/>
                <a:cs typeface="Helvetica Neue"/>
              </a:rPr>
              <a:t>EARLY WARNING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59A50F8C-AB50-42CC-86C0-9BE9D2774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9448800" y="4543425"/>
            <a:ext cx="20955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9E4E0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9853BB8D-6A62-4C7A-9E0B-20011E2FC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4743450"/>
            <a:ext cx="2114550" cy="1323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E303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1E3039"/>
                </a:solidFill>
                <a:latin typeface="Helvetica Neue"/>
                <a:ea typeface="Helvetica Neue"/>
                <a:cs typeface="Helvetica Neue"/>
              </a:rPr>
              <a:t>GREEN → WATCH →</a:t>
            </a:r>
          </a:p>
          <a:p xmlns:a="http://schemas.openxmlformats.org/drawingml/2006/main">
            <a:pPr algn="ctr">
              <a:defRPr sz="1425" b="0">
                <a:solidFill>
                  <a:srgbClr val="1E303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1E3039"/>
                </a:solidFill>
                <a:latin typeface="Helvetica Neue"/>
                <a:ea typeface="Helvetica Neue"/>
                <a:cs typeface="Helvetica Neue"/>
              </a:rPr>
              <a:t>WARNING → CRITICAL</a:t>
            </a:r>
          </a:p>
          <a:p xmlns:a="http://schemas.openxmlformats.org/drawingml/2006/main">
            <a:pPr algn="ctr">
              <a:defRPr sz="1425" b="0">
                <a:solidFill>
                  <a:srgbClr val="1E303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1E3039"/>
                </a:solidFill>
                <a:latin typeface="Helvetica Neue"/>
                <a:ea typeface="Helvetica Neue"/>
                <a:cs typeface="Helvetica Neue"/>
              </a:rPr>
              <a:t>Guide attention; not a</a:t>
            </a:r>
          </a:p>
          <a:p xmlns:a="http://schemas.openxmlformats.org/drawingml/2006/main">
            <a:pPr algn="ctr">
              <a:defRPr sz="1425" b="0">
                <a:solidFill>
                  <a:srgbClr val="1E303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1E3039"/>
                </a:solidFill>
                <a:latin typeface="Helvetica Neue"/>
                <a:ea typeface="Helvetica Neue"/>
                <a:cs typeface="Helvetica Neue"/>
              </a:rPr>
              <a:t>collapse-time prediction.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B9236C63-5B26-4EF9-9EF6-5C447A219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15800" y="2914650"/>
            <a:ext cx="2552700" cy="3371850"/>
          </a:xfrm>
          <a:prstGeom xmlns:a="http://schemas.openxmlformats.org/drawingml/2006/main" prst="roundRect">
            <a:avLst>
              <a:gd name="adj" fmla="val 5224"/>
            </a:avLst>
          </a:prstGeom>
          <a:solidFill xmlns:a="http://schemas.openxmlformats.org/drawingml/2006/main">
            <a:srgbClr val="F4F9F5"/>
          </a:solidFill>
          <a:ln xmlns:a="http://schemas.openxmlformats.org/drawingml/2006/main" w="19050">
            <a:solidFill>
              <a:srgbClr val="D9E4E0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C8A9813B-FE20-4545-9ECD-283EF796C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15800" y="2914650"/>
            <a:ext cx="57150" cy="3371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7A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C676CF1D-90DE-4890-9678-92F8633D4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25350" y="31242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A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3B936207-FB9E-4106-9363-573D13567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25350" y="31242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FC83CE34-B4F9-4020-9AA8-5C8E07F45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6875" y="3286125"/>
            <a:ext cx="171450" cy="1714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47A48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FA30AF5A-9EB8-4B3E-88BF-76290DD57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73100" y="3343275"/>
            <a:ext cx="142875" cy="14287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47A48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C2E6BD2C-675D-427F-886B-5BE1372C3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39725" y="3505200"/>
            <a:ext cx="295275" cy="238125"/>
          </a:xfrm>
          <a:prstGeom xmlns:a="http://schemas.openxmlformats.org/drawingml/2006/main" prst="arc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47A48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B2A36590-F243-4158-A824-A0015B973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25475" y="3533775"/>
            <a:ext cx="276225" cy="209550"/>
          </a:xfrm>
          <a:prstGeom xmlns:a="http://schemas.openxmlformats.org/drawingml/2006/main" prst="arc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47A48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DFD9D63E-7659-47F6-B13D-00A9F28B8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3962400"/>
            <a:ext cx="2209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47A4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247A48"/>
                </a:solidFill>
                <a:latin typeface="Helvetica Neue"/>
                <a:ea typeface="Helvetica Neue"/>
                <a:cs typeface="Helvetica Neue"/>
              </a:rPr>
              <a:t>HUMAN INTERVENTION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7F7E6A07-7920-4FD5-8CBD-160E3AE40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2344400" y="4543425"/>
            <a:ext cx="20955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9E4E0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33C77E34-D049-4727-86C0-65E4EAD8C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34875" y="4743450"/>
            <a:ext cx="2114550" cy="1323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E303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E3039"/>
                </a:solidFill>
                <a:latin typeface="Helvetica Neue"/>
                <a:ea typeface="Helvetica Neue"/>
                <a:cs typeface="Helvetica Neue"/>
              </a:rPr>
              <a:t>Operators and authorities can prioritize inspections and safety measures.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85C123A7-F8F8-4EBD-9414-1AB9715A8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11400" y="2914650"/>
            <a:ext cx="2552700" cy="3371850"/>
          </a:xfrm>
          <a:prstGeom xmlns:a="http://schemas.openxmlformats.org/drawingml/2006/main" prst="roundRect">
            <a:avLst>
              <a:gd name="adj" fmla="val 5224"/>
            </a:avLst>
          </a:prstGeom>
          <a:solidFill xmlns:a="http://schemas.openxmlformats.org/drawingml/2006/main">
            <a:srgbClr val="F1F7F3"/>
          </a:solidFill>
          <a:ln xmlns:a="http://schemas.openxmlformats.org/drawingml/2006/main" w="19050">
            <a:solidFill>
              <a:srgbClr val="D9E4E0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FFDF53EB-5A7D-4857-8C05-C4B402B93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11400" y="2914650"/>
            <a:ext cx="57150" cy="3371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7A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A61BE560-1BD2-440C-942E-5CB4DD51D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20950" y="31242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A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F1A7915E-792E-4D88-8C41-D2257169B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20950" y="31242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065854A9-D649-42EB-9DC0-3DC03C757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82950" y="3419475"/>
            <a:ext cx="457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47A48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D455B57E-0B3B-4694-9768-48A5B9AF8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82950" y="3286125"/>
            <a:ext cx="457200" cy="295275"/>
          </a:xfrm>
          <a:prstGeom xmlns:a="http://schemas.openxmlformats.org/drawingml/2006/main" prst="triangl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47A48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EAC9071D-C92F-4DC5-B179-40643096E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63925" y="3571875"/>
            <a:ext cx="114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47A48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701DDDBF-8596-4D38-9D28-80EB91C14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40100" y="35147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7A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9F8E8DD6-6D6A-42AF-974F-5D8EB73B2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25850" y="35147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7A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6535A5AB-4955-4FE2-B48D-1CAD29573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82850" y="3962400"/>
            <a:ext cx="2209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47A4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247A48"/>
                </a:solidFill>
                <a:latin typeface="Helvetica Neue"/>
                <a:ea typeface="Helvetica Neue"/>
                <a:cs typeface="Helvetica Neue"/>
              </a:rPr>
              <a:t>POTENTIAL IMPACT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B61645D4-084B-4F60-927C-8DEEBE4A3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5240000" y="4543425"/>
            <a:ext cx="20955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9E4E0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09EA077D-A80B-4521-B151-D06F7B509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30475" y="4743450"/>
            <a:ext cx="2114550" cy="1323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E303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E3039"/>
                </a:solidFill>
                <a:latin typeface="Helvetica Neue"/>
                <a:ea typeface="Helvetica Neue"/>
                <a:cs typeface="Helvetica Neue"/>
              </a:rPr>
              <a:t>Earlier information could help reduce exposure and limit damage.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C122F985-9C62-4003-A84A-EBACA6EFF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133725" y="4600575"/>
            <a:ext cx="1333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7A8B92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BA35736C-F002-40A6-977A-9322973CF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543425"/>
            <a:ext cx="13335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7A8B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2DB45433-B485-4B82-B54D-98F9D6984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029325" y="4600575"/>
            <a:ext cx="1333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7A8B92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427F658E-79D4-4864-A025-3962EB874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543425"/>
            <a:ext cx="13335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7A8B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D4C5B799-3DC8-45A0-8623-A3A3B3C47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924925" y="4600575"/>
            <a:ext cx="1333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7A8B92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FDDC74F8-6755-4AB7-B558-B01A726AF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543425"/>
            <a:ext cx="13335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7A8B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A3E1A6DE-6373-482E-B774-0EE22D738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1820525" y="4600575"/>
            <a:ext cx="1333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7A8B92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9F19C179-395D-49D3-9E80-E08FC1E0F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25300" y="4543425"/>
            <a:ext cx="13335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7A8B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1226DADF-3D66-4F6B-8EFB-4D9DBFACE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716125" y="4600575"/>
            <a:ext cx="1333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7A8B92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F11C96DA-1667-4F16-BF68-A9EFB3D04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20900" y="4543425"/>
            <a:ext cx="13335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7A8B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DED53A8E-C6EA-4F11-B6CD-EE741C66E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475" y="2324100"/>
            <a:ext cx="3676650" cy="533400"/>
          </a:xfrm>
          <a:prstGeom xmlns:a="http://schemas.openxmlformats.org/drawingml/2006/main" prst="roundRect">
            <a:avLst>
              <a:gd name="adj" fmla="val 32143"/>
            </a:avLst>
          </a:prstGeom>
          <a:solidFill xmlns:a="http://schemas.openxmlformats.org/drawingml/2006/main">
            <a:srgbClr val="EDF4F8"/>
          </a:solidFill>
          <a:ln xmlns:a="http://schemas.openxmlformats.org/drawingml/2006/main" w="14288">
            <a:solidFill>
              <a:srgbClr val="3B83A7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28FECDC6-B52F-4C90-8126-C5A565B50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2343150"/>
            <a:ext cx="3448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3B83A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B83A7"/>
                </a:solidFill>
                <a:latin typeface="Helvetica Neue"/>
                <a:ea typeface="Helvetica Neue"/>
                <a:cs typeface="Helvetica Neue"/>
              </a:rPr>
              <a:t>AI PIPELINE</a:t>
            </a:r>
          </a:p>
          <a:p xmlns:a="http://schemas.openxmlformats.org/drawingml/2006/main">
            <a:pPr algn="ctr">
              <a:defRPr sz="1050" b="1">
                <a:solidFill>
                  <a:srgbClr val="3B83A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B83A7"/>
                </a:solidFill>
                <a:latin typeface="Helvetica Neue"/>
                <a:ea typeface="Helvetica Neue"/>
                <a:cs typeface="Helvetica Neue"/>
              </a:rPr>
              <a:t>Isolation Forest + XGBoost + physics checks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A6F74EA6-3359-4251-9227-0EC7EDE49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33400" y="6791325"/>
            <a:ext cx="172212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E4E0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BD42DE05-7501-4F17-8A7E-DC1F72630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038975"/>
            <a:ext cx="447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47A4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247A48"/>
                </a:solidFill>
                <a:latin typeface="Helvetica Neue"/>
                <a:ea typeface="Helvetica Neue"/>
                <a:cs typeface="Helvetica Neue"/>
              </a:rPr>
              <a:t>POTENTIAL OUTCOMES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F2422E79-3173-4092-B9AE-D5E04781C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7038975"/>
            <a:ext cx="11430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6707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6707C"/>
                </a:solidFill>
                <a:latin typeface="Helvetica Neue"/>
                <a:ea typeface="Helvetica Neue"/>
                <a:cs typeface="Helvetica Neue"/>
              </a:rPr>
              <a:t>Possible benefits to evaluate in physical and field studies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2750AD5C-A7DD-4309-B621-1E160DDB7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696200"/>
            <a:ext cx="4076700" cy="971550"/>
          </a:xfrm>
          <a:prstGeom xmlns:a="http://schemas.openxmlformats.org/drawingml/2006/main" prst="roundRect">
            <a:avLst>
              <a:gd name="adj" fmla="val 98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4E0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C50C3DFB-68C0-4D57-8C0B-6389E914A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696200"/>
            <a:ext cx="47625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7A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52D518FD-5409-4F92-B8DE-3699E853B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295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4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925EADBD-7C66-46C1-BE78-FFAC4C68C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91475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47A4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247A48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FF659423-D7C3-4089-BBF6-6F48E5FFE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7839075"/>
            <a:ext cx="32099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73746"/>
                </a:solidFill>
                <a:latin typeface="Helvetica Neue"/>
                <a:ea typeface="Helvetica Neue"/>
                <a:cs typeface="Helvetica Neue"/>
              </a:rPr>
              <a:t>WORKER SAFETY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65623850-E0BE-4105-8254-411E308FB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8181975"/>
            <a:ext cx="32099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6707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6707C"/>
                </a:solidFill>
                <a:latin typeface="Helvetica Neue"/>
                <a:ea typeface="Helvetica Neue"/>
                <a:cs typeface="Helvetica Neue"/>
              </a:rPr>
              <a:t>Worker exposure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8E6DFCB3-1CE7-48A2-840C-F715F1B59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7696200"/>
            <a:ext cx="4076700" cy="971550"/>
          </a:xfrm>
          <a:prstGeom xmlns:a="http://schemas.openxmlformats.org/drawingml/2006/main" prst="roundRect">
            <a:avLst>
              <a:gd name="adj" fmla="val 98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4E0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93255690-2039-4714-9D19-ECD21029A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7696200"/>
            <a:ext cx="47625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3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31B8C3EA-95E1-4A9D-ADED-AAC58F332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80295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4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BE705B41-734A-4B10-8567-E1FF317F4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7991475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3B83A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3B83A7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38DFDB79-631B-4EBC-99FE-C470B7E37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4025" y="7839075"/>
            <a:ext cx="32099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73746"/>
                </a:solidFill>
                <a:latin typeface="Helvetica Neue"/>
                <a:ea typeface="Helvetica Neue"/>
                <a:cs typeface="Helvetica Neue"/>
              </a:rPr>
              <a:t>FASTER DETECTION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0AE60EBB-929D-41D1-B2AE-B298212C2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4025" y="8181975"/>
            <a:ext cx="32099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6707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6707C"/>
                </a:solidFill>
                <a:latin typeface="Helvetica Neue"/>
                <a:ea typeface="Helvetica Neue"/>
                <a:cs typeface="Helvetica Neue"/>
              </a:rPr>
              <a:t>Time to notice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0D006D13-D655-46DB-95E8-9DC7C9973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7696200"/>
            <a:ext cx="4076700" cy="971550"/>
          </a:xfrm>
          <a:prstGeom xmlns:a="http://schemas.openxmlformats.org/drawingml/2006/main" prst="roundRect">
            <a:avLst>
              <a:gd name="adj" fmla="val 98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4E0"/>
            </a:solidFill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C99E5A7E-AA79-42A3-AF4A-301EA9418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7696200"/>
            <a:ext cx="47625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7A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92B7C920-5909-405D-9A2D-AAD16C026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80295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4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1DAAAF4C-DAFF-40B1-A297-E7C515343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7991475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47A4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247A48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E84B040E-3801-4001-BA55-7AB252ED8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7839075"/>
            <a:ext cx="32099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73746"/>
                </a:solidFill>
                <a:latin typeface="Helvetica Neue"/>
                <a:ea typeface="Helvetica Neue"/>
                <a:cs typeface="Helvetica Neue"/>
              </a:rPr>
              <a:t>TARGETED INSPECTION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B2BE3667-F202-49E4-BD49-2414970F2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8181975"/>
            <a:ext cx="32099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6707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6707C"/>
                </a:solidFill>
                <a:latin typeface="Helvetica Neue"/>
                <a:ea typeface="Helvetica Neue"/>
                <a:cs typeface="Helvetica Neue"/>
              </a:rPr>
              <a:t>Inspection priority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2694C6DC-4E7C-4070-872B-A7E1C268B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77900" y="7696200"/>
            <a:ext cx="4076700" cy="971550"/>
          </a:xfrm>
          <a:prstGeom xmlns:a="http://schemas.openxmlformats.org/drawingml/2006/main" prst="roundRect">
            <a:avLst>
              <a:gd name="adj" fmla="val 98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4E0"/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8F4F43E4-2A68-41DB-ADE1-2D6C2F5F9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77900" y="7696200"/>
            <a:ext cx="47625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7A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EB22EEE9-2D84-434C-B053-3C70674BC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295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4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2D8F2F53-43C0-46EA-94F0-DB37BB505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7991475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47A4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247A48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3B224BB9-F996-4521-BE13-21A6578FD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97025" y="7839075"/>
            <a:ext cx="32099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73746"/>
                </a:solidFill>
                <a:latin typeface="Helvetica Neue"/>
                <a:ea typeface="Helvetica Neue"/>
                <a:cs typeface="Helvetica Neue"/>
              </a:rPr>
              <a:t>ENVIRONMENTAL PROTECTION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1553EC75-8047-4444-A440-B1FD0D19A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97025" y="8181975"/>
            <a:ext cx="32099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6707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6707C"/>
                </a:solidFill>
                <a:latin typeface="Helvetica Neue"/>
                <a:ea typeface="Helvetica Neue"/>
                <a:cs typeface="Helvetica Neue"/>
              </a:rPr>
              <a:t>Land and water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605BE1E4-5D03-4F64-AAD4-92B220943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020175"/>
            <a:ext cx="17221200" cy="542925"/>
          </a:xfrm>
          <a:prstGeom xmlns:a="http://schemas.openxmlformats.org/drawingml/2006/main" prst="roundRect">
            <a:avLst>
              <a:gd name="adj" fmla="val 14035"/>
            </a:avLst>
          </a:prstGeom>
          <a:solidFill xmlns:a="http://schemas.openxmlformats.org/drawingml/2006/main">
            <a:srgbClr val="F3F7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3139A45D-76FB-4809-9C5B-7791060BC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058275"/>
            <a:ext cx="1676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73746"/>
                </a:solidFill>
                <a:latin typeface="Helvetica Neue"/>
                <a:ea typeface="Helvetica Neue"/>
                <a:cs typeface="Helvetica Neue"/>
              </a:rPr>
              <a:t>Evidence to date: held-out synthetic evaluation only; physical and mine-site transfer remain unverified.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E61C1CC6-5EBF-4B7D-95C8-4C7A6289A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715500"/>
            <a:ext cx="17221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6707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6707C"/>
                </a:solidFill>
                <a:latin typeface="Helvetica Neue"/>
                <a:ea typeface="Helvetica Neue"/>
                <a:cs typeface="Helvetica Neue"/>
              </a:rPr>
              <a:t>Potential impact; real-world effectiveness awaits physical and field validation.</a:t>
            </a:r>
          </a:p>
        </p:txBody>
      </p:sp>
    </p:spTree>
    <p:extLst>
      <p:ext uri="{BB962C8B-B14F-4D97-AF65-F5344CB8AC3E}">
        <p14:creationId xmlns:p14="http://schemas.microsoft.com/office/powerpoint/2010/main" val="21472253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2026-09-28T19:37:01.9150000Z</dcterms:created>
  <dcterms:modified xsi:type="dcterms:W3CDTF">2026-09-28T19:37:01.9160000Z</dcterms:modified>
</coreProperties>
</file>