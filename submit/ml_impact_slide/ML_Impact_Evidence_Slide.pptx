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2bac8ff92544a2" /><Relationship Type="http://schemas.openxmlformats.org/officeDocument/2006/relationships/extended-properties" Target="/docProps/app.xml" Id="Ra7b2882a6c154593" /><Relationship Type="http://schemas.openxmlformats.org/officeDocument/2006/relationships/officeDocument" Target="/ppt/presentation.xml" Id="R8018318e429f41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a6b79dba324d12"/>
  </p:sldMasterIdLst>
  <p:notesMasterIdLst>
    <p:notesMasterId xmlns:r="http://schemas.openxmlformats.org/officeDocument/2006/relationships" r:id="R5d2bc08a57164ae6"/>
  </p:notesMasterIdLst>
  <p:sldIdLst>
    <p:sldId xmlns:r="http://schemas.openxmlformats.org/officeDocument/2006/relationships" id="256" r:id="Rf60e0d4e97f54c83"/>
  </p:sldIdLst>
  <p:sldSz cx="18764250" cy="104013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b8a89bb95d4bd3" /><Relationship Type="http://schemas.openxmlformats.org/officeDocument/2006/relationships/slideMaster" Target="/ppt/slideMasters/slideMaster1.xml" Id="R19a6b79dba324d12" /><Relationship Type="http://schemas.openxmlformats.org/officeDocument/2006/relationships/notesMaster" Target="/ppt/notesMasters/notesMaster1.xml" Id="R5d2bc08a57164ae6" /><Relationship Type="http://schemas.openxmlformats.org/officeDocument/2006/relationships/presProps" Target="/ppt/presProps.xml" Id="R73438b2cc85947d7" /><Relationship Type="http://schemas.openxmlformats.org/officeDocument/2006/relationships/tableStyles" Target="/ppt/tableStyles.xml" Id="R98f9badd5e4d4239" /><Relationship Type="http://schemas.openxmlformats.org/officeDocument/2006/relationships/slide" Target="/ppt/slides/slide1.xml" Id="Rf60e0d4e97f54c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4848cff65347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32ba5fe2984120" /><Relationship Type="http://schemas.openxmlformats.org/officeDocument/2006/relationships/notesMaster" Target="/ppt/notesMasters/notesMaster1.xml" Id="Rb4cc5cf4b17a4f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reports/final_eval.md and reports/test_lock.json. The locked synthetic test was evaluated once (evals_run = 1). Metric definitions are implemented in scripts/final_eval.py: CRITICAL recall is class recall; NORMAL false-alarm rate is the share of NORMAL windows predicted as another class. Alert-engine median lead time is −3.3334 hours, so this test does not support an early-warning benefit claim. Results are synthetic and not real-mine or physical-tabletop validation.</a:t>
            </a:r>
          </a:p>
          <a:p xmlns:a="http://schemas.openxmlformats.org/drawingml/2006/main">
            <a:r>
              <a:t>Model pipeline source: src/pipeline.py, src/anomaly/isolation_forest.py, src/physics/consistency.py, src/risk/xgboost_model.py, and src/risk/alert_engine.py. The risk classifier has NORMAL, WARNING, and CRITICAL classes. Spatial neighbor confirmation is unavailable in the one-node-per-event locked corpus.</a:t>
            </a:r>
          </a:p>
          <a:p xmlns:a="http://schemas.openxmlformats.org/drawingml/2006/main">
            <a:r>
              <a:t>External research context only, not project evidence: Mirmazloumi et al. (2023), “InSAR time series and LSTM model to support early warning detection tools of ground instabilities: mining site case studies,” Bulletin of Engineering Geology and the Environment. The study evaluates InSAR time-series forecasting and adjacent-series analysis at three mining sites. https://doi.org/10.1007/s10064-023-03388-w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f30a4281cb46d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fca1d1a8a24c1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36ca0897ce444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a10cbdc13140f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8a79d5593c45d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5e6f6b3cbc4c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BD325F8-8935-4C29-BB5A-65E18F7B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3019" y="3351530"/>
            <a:ext cx="938213" cy="577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9DACBA4-63C1-452A-B3F2-7BB196E8AC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76425" y="3929380"/>
            <a:ext cx="15011400" cy="15024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3198CFF3-F601-4B03-819C-532F9D6BDC5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814638" y="5720715"/>
            <a:ext cx="13134975" cy="1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B622305-6336-4148-86E6-39FD6791D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3019" y="3756025"/>
            <a:ext cx="938213" cy="577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928A4B7-B573-4E26-9270-608C1C2980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76425" y="4333875"/>
            <a:ext cx="150114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E94A241-EBD0-495D-996E-7CCC8541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489" y="2311400"/>
            <a:ext cx="938213" cy="577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CB91221-7674-4299-83C0-292086AD2E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55489" y="808990"/>
            <a:ext cx="16653272" cy="1271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4F94E960-58DA-4AE5-BE4A-6B3475594A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55489" y="2889250"/>
            <a:ext cx="16653272" cy="6471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6710" indent="-346710">
              <a:lnSpc>
                <a:spcPct val="110000"/>
              </a:lnSpc>
              <a:spcBef>
                <a:spcPts val="0"/>
              </a:spcBef>
              <a:spcAft>
                <a:spcPts val="1820"/>
              </a:spcAft>
              <a:buChar char="•"/>
            </a:lvl1pPr>
            <a:lvl2pPr marL="808990" indent="-346710">
              <a:lnSpc>
                <a:spcPct val="110000"/>
              </a:lnSpc>
              <a:spcBef>
                <a:spcPts val="0"/>
              </a:spcBef>
              <a:spcAft>
                <a:spcPts val="1820"/>
              </a:spcAft>
              <a:buChar char="•"/>
            </a:lvl2pPr>
            <a:lvl3pPr marL="1271270" indent="-346710">
              <a:lnSpc>
                <a:spcPct val="110000"/>
              </a:lnSpc>
              <a:spcBef>
                <a:spcPts val="0"/>
              </a:spcBef>
              <a:spcAft>
                <a:spcPts val="1820"/>
              </a:spcAft>
              <a:buChar char="•"/>
            </a:lvl3pPr>
            <a:lvl4pPr marL="1733550" indent="-346710">
              <a:lnSpc>
                <a:spcPct val="110000"/>
              </a:lnSpc>
              <a:spcBef>
                <a:spcPts val="0"/>
              </a:spcBef>
              <a:spcAft>
                <a:spcPts val="1820"/>
              </a:spcAft>
              <a:buChar char="•"/>
            </a:lvl4pPr>
            <a:lvl5pPr marL="2195830" indent="-346710">
              <a:lnSpc>
                <a:spcPct val="110000"/>
              </a:lnSpc>
              <a:spcBef>
                <a:spcPts val="0"/>
              </a:spcBef>
              <a:spcAft>
                <a:spcPts val="1820"/>
              </a:spcAft>
              <a:buChar char="•"/>
            </a:lvl5pPr>
            <a:lvl6pPr marL="2658110" indent="-346710">
              <a:lnSpc>
                <a:spcPct val="110000"/>
              </a:lnSpc>
              <a:spcBef>
                <a:spcPts val="0"/>
              </a:spcBef>
              <a:spcAft>
                <a:spcPts val="1820"/>
              </a:spcAft>
              <a:buChar char="•"/>
            </a:lvl6pPr>
            <a:lvl7pPr marL="3120390" indent="-346710">
              <a:lnSpc>
                <a:spcPct val="110000"/>
              </a:lnSpc>
              <a:spcBef>
                <a:spcPts val="0"/>
              </a:spcBef>
              <a:spcAft>
                <a:spcPts val="1820"/>
              </a:spcAft>
              <a:buChar char="•"/>
            </a:lvl7pPr>
            <a:lvl8pPr marL="3582670" indent="-346710">
              <a:lnSpc>
                <a:spcPct val="110000"/>
              </a:lnSpc>
              <a:spcBef>
                <a:spcPts val="0"/>
              </a:spcBef>
              <a:spcAft>
                <a:spcPts val="1820"/>
              </a:spcAft>
              <a:buChar char="•"/>
            </a:lvl8pPr>
            <a:lvl9pPr marL="4044950" indent="-346710">
              <a:lnSpc>
                <a:spcPct val="110000"/>
              </a:lnSpc>
              <a:spcBef>
                <a:spcPts val="0"/>
              </a:spcBef>
              <a:spcAft>
                <a:spcPts val="182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1146A81-1B65-4717-824F-991DF7B1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489" y="2311400"/>
            <a:ext cx="938213" cy="577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5C89972-C419-485A-8370-296279E60B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55489" y="808990"/>
            <a:ext cx="16653272" cy="1271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505A33-B670-4A8E-A614-FA16185B89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55489" y="2889250"/>
            <a:ext cx="7740253" cy="6471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6710" indent="-346710">
              <a:lnSpc>
                <a:spcPct val="110000"/>
              </a:lnSpc>
              <a:spcBef>
                <a:spcPts val="0"/>
              </a:spcBef>
              <a:spcAft>
                <a:spcPts val="1820"/>
              </a:spcAft>
              <a:buChar char="•"/>
            </a:lvl1pPr>
            <a:lvl2pPr marL="808990" indent="-346710">
              <a:lnSpc>
                <a:spcPct val="110000"/>
              </a:lnSpc>
              <a:spcBef>
                <a:spcPts val="0"/>
              </a:spcBef>
              <a:spcAft>
                <a:spcPts val="1820"/>
              </a:spcAft>
              <a:buChar char="•"/>
            </a:lvl2pPr>
            <a:lvl3pPr marL="1271270" indent="-346710">
              <a:lnSpc>
                <a:spcPct val="110000"/>
              </a:lnSpc>
              <a:spcBef>
                <a:spcPts val="0"/>
              </a:spcBef>
              <a:spcAft>
                <a:spcPts val="1820"/>
              </a:spcAft>
              <a:buChar char="•"/>
            </a:lvl3pPr>
            <a:lvl4pPr marL="1733550" indent="-346710">
              <a:lnSpc>
                <a:spcPct val="110000"/>
              </a:lnSpc>
              <a:spcBef>
                <a:spcPts val="0"/>
              </a:spcBef>
              <a:spcAft>
                <a:spcPts val="1820"/>
              </a:spcAft>
              <a:buChar char="•"/>
            </a:lvl4pPr>
            <a:lvl5pPr marL="2195830" indent="-346710">
              <a:lnSpc>
                <a:spcPct val="110000"/>
              </a:lnSpc>
              <a:spcBef>
                <a:spcPts val="0"/>
              </a:spcBef>
              <a:spcAft>
                <a:spcPts val="1820"/>
              </a:spcAft>
              <a:buChar char="•"/>
            </a:lvl5pPr>
            <a:lvl6pPr marL="2658110" indent="-346710">
              <a:lnSpc>
                <a:spcPct val="110000"/>
              </a:lnSpc>
              <a:spcBef>
                <a:spcPts val="0"/>
              </a:spcBef>
              <a:spcAft>
                <a:spcPts val="1820"/>
              </a:spcAft>
              <a:buChar char="•"/>
            </a:lvl6pPr>
            <a:lvl7pPr marL="3120390" indent="-346710">
              <a:lnSpc>
                <a:spcPct val="110000"/>
              </a:lnSpc>
              <a:spcBef>
                <a:spcPts val="0"/>
              </a:spcBef>
              <a:spcAft>
                <a:spcPts val="1820"/>
              </a:spcAft>
              <a:buChar char="•"/>
            </a:lvl7pPr>
            <a:lvl8pPr marL="3582670" indent="-346710">
              <a:lnSpc>
                <a:spcPct val="110000"/>
              </a:lnSpc>
              <a:spcBef>
                <a:spcPts val="0"/>
              </a:spcBef>
              <a:spcAft>
                <a:spcPts val="1820"/>
              </a:spcAft>
              <a:buChar char="•"/>
            </a:lvl8pPr>
            <a:lvl9pPr marL="4044950" indent="-346710">
              <a:lnSpc>
                <a:spcPct val="110000"/>
              </a:lnSpc>
              <a:spcBef>
                <a:spcPts val="0"/>
              </a:spcBef>
              <a:spcAft>
                <a:spcPts val="182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1B85D09-45C6-4657-9E32-359C0A2CCAD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968508" y="2889250"/>
            <a:ext cx="7740253" cy="6471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6710" indent="-346710">
              <a:lnSpc>
                <a:spcPct val="110000"/>
              </a:lnSpc>
              <a:spcBef>
                <a:spcPts val="0"/>
              </a:spcBef>
              <a:spcAft>
                <a:spcPts val="1820"/>
              </a:spcAft>
              <a:buChar char="•"/>
            </a:lvl1pPr>
            <a:lvl2pPr marL="808990" indent="-346710">
              <a:lnSpc>
                <a:spcPct val="110000"/>
              </a:lnSpc>
              <a:spcBef>
                <a:spcPts val="0"/>
              </a:spcBef>
              <a:spcAft>
                <a:spcPts val="1820"/>
              </a:spcAft>
              <a:buChar char="•"/>
            </a:lvl2pPr>
            <a:lvl3pPr marL="1271270" indent="-346710">
              <a:lnSpc>
                <a:spcPct val="110000"/>
              </a:lnSpc>
              <a:spcBef>
                <a:spcPts val="0"/>
              </a:spcBef>
              <a:spcAft>
                <a:spcPts val="1820"/>
              </a:spcAft>
              <a:buChar char="•"/>
            </a:lvl3pPr>
            <a:lvl4pPr marL="1733550" indent="-346710">
              <a:lnSpc>
                <a:spcPct val="110000"/>
              </a:lnSpc>
              <a:spcBef>
                <a:spcPts val="0"/>
              </a:spcBef>
              <a:spcAft>
                <a:spcPts val="1820"/>
              </a:spcAft>
              <a:buChar char="•"/>
            </a:lvl4pPr>
            <a:lvl5pPr marL="2195830" indent="-346710">
              <a:lnSpc>
                <a:spcPct val="110000"/>
              </a:lnSpc>
              <a:spcBef>
                <a:spcPts val="0"/>
              </a:spcBef>
              <a:spcAft>
                <a:spcPts val="1820"/>
              </a:spcAft>
              <a:buChar char="•"/>
            </a:lvl5pPr>
            <a:lvl6pPr marL="2658110" indent="-346710">
              <a:lnSpc>
                <a:spcPct val="110000"/>
              </a:lnSpc>
              <a:spcBef>
                <a:spcPts val="0"/>
              </a:spcBef>
              <a:spcAft>
                <a:spcPts val="1820"/>
              </a:spcAft>
              <a:buChar char="•"/>
            </a:lvl6pPr>
            <a:lvl7pPr marL="3120390" indent="-346710">
              <a:lnSpc>
                <a:spcPct val="110000"/>
              </a:lnSpc>
              <a:spcBef>
                <a:spcPts val="0"/>
              </a:spcBef>
              <a:spcAft>
                <a:spcPts val="1820"/>
              </a:spcAft>
              <a:buChar char="•"/>
            </a:lvl7pPr>
            <a:lvl8pPr marL="3582670" indent="-346710">
              <a:lnSpc>
                <a:spcPct val="110000"/>
              </a:lnSpc>
              <a:spcBef>
                <a:spcPts val="0"/>
              </a:spcBef>
              <a:spcAft>
                <a:spcPts val="1820"/>
              </a:spcAft>
              <a:buChar char="•"/>
            </a:lvl8pPr>
            <a:lvl9pPr marL="4044950" indent="-346710">
              <a:lnSpc>
                <a:spcPct val="110000"/>
              </a:lnSpc>
              <a:spcBef>
                <a:spcPts val="0"/>
              </a:spcBef>
              <a:spcAft>
                <a:spcPts val="182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2271D01-CBF9-4401-A88A-56F9DBA6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489" y="2311400"/>
            <a:ext cx="938213" cy="577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9899ACA-6EBB-4FA9-8AA2-76B89C3E26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55489" y="808990"/>
            <a:ext cx="16653272" cy="1271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7E889F9-F58C-4F81-A007-5D97BE0599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55489" y="2889250"/>
            <a:ext cx="7740253" cy="6471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6710" indent="-346710">
              <a:lnSpc>
                <a:spcPct val="110000"/>
              </a:lnSpc>
              <a:spcBef>
                <a:spcPts val="0"/>
              </a:spcBef>
              <a:spcAft>
                <a:spcPts val="1820"/>
              </a:spcAft>
              <a:buChar char="•"/>
            </a:lvl1pPr>
            <a:lvl2pPr marL="808990" indent="-346710">
              <a:lnSpc>
                <a:spcPct val="110000"/>
              </a:lnSpc>
              <a:spcBef>
                <a:spcPts val="0"/>
              </a:spcBef>
              <a:spcAft>
                <a:spcPts val="1820"/>
              </a:spcAft>
              <a:buChar char="•"/>
            </a:lvl2pPr>
            <a:lvl3pPr marL="1271270" indent="-346710">
              <a:lnSpc>
                <a:spcPct val="110000"/>
              </a:lnSpc>
              <a:spcBef>
                <a:spcPts val="0"/>
              </a:spcBef>
              <a:spcAft>
                <a:spcPts val="1820"/>
              </a:spcAft>
              <a:buChar char="•"/>
            </a:lvl3pPr>
            <a:lvl4pPr marL="1733550" indent="-346710">
              <a:lnSpc>
                <a:spcPct val="110000"/>
              </a:lnSpc>
              <a:spcBef>
                <a:spcPts val="0"/>
              </a:spcBef>
              <a:spcAft>
                <a:spcPts val="1820"/>
              </a:spcAft>
              <a:buChar char="•"/>
            </a:lvl4pPr>
            <a:lvl5pPr marL="2195830" indent="-346710">
              <a:lnSpc>
                <a:spcPct val="110000"/>
              </a:lnSpc>
              <a:spcBef>
                <a:spcPts val="0"/>
              </a:spcBef>
              <a:spcAft>
                <a:spcPts val="1820"/>
              </a:spcAft>
              <a:buChar char="•"/>
            </a:lvl5pPr>
            <a:lvl6pPr marL="2658110" indent="-346710">
              <a:lnSpc>
                <a:spcPct val="110000"/>
              </a:lnSpc>
              <a:spcBef>
                <a:spcPts val="0"/>
              </a:spcBef>
              <a:spcAft>
                <a:spcPts val="1820"/>
              </a:spcAft>
              <a:buChar char="•"/>
            </a:lvl6pPr>
            <a:lvl7pPr marL="3120390" indent="-346710">
              <a:lnSpc>
                <a:spcPct val="110000"/>
              </a:lnSpc>
              <a:spcBef>
                <a:spcPts val="0"/>
              </a:spcBef>
              <a:spcAft>
                <a:spcPts val="1820"/>
              </a:spcAft>
              <a:buChar char="•"/>
            </a:lvl7pPr>
            <a:lvl8pPr marL="3582670" indent="-346710">
              <a:lnSpc>
                <a:spcPct val="110000"/>
              </a:lnSpc>
              <a:spcBef>
                <a:spcPts val="0"/>
              </a:spcBef>
              <a:spcAft>
                <a:spcPts val="1820"/>
              </a:spcAft>
              <a:buChar char="•"/>
            </a:lvl8pPr>
            <a:lvl9pPr marL="4044950" indent="-346710">
              <a:lnSpc>
                <a:spcPct val="110000"/>
              </a:lnSpc>
              <a:spcBef>
                <a:spcPts val="0"/>
              </a:spcBef>
              <a:spcAft>
                <a:spcPts val="182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9ba100c9c04f9f" /><Relationship Type="http://schemas.openxmlformats.org/officeDocument/2006/relationships/slideLayout" Target="/ppt/slideLayouts/slideLayout1.xml" Id="R3e416e07baad4419" /><Relationship Type="http://schemas.openxmlformats.org/officeDocument/2006/relationships/slideLayout" Target="/ppt/slideLayouts/slideLayout2.xml" Id="R219b81bebc044a3f" /><Relationship Type="http://schemas.openxmlformats.org/officeDocument/2006/relationships/slideLayout" Target="/ppt/slideLayouts/slideLayout3.xml" Id="R1aea2c0f28c44040" /><Relationship Type="http://schemas.openxmlformats.org/officeDocument/2006/relationships/slideLayout" Target="/ppt/slideLayouts/slideLayout4.xml" Id="Rb60c997470e5488a" /><Relationship Type="http://schemas.openxmlformats.org/officeDocument/2006/relationships/slideLayout" Target="/ppt/slideLayouts/slideLayout5.xml" Id="R1456222ed31a458a" /><Relationship Type="http://schemas.openxmlformats.org/officeDocument/2006/relationships/slideLayout" Target="/ppt/slideLayouts/slideLayout6.xml" Id="R4673e4e9ed4441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416e07baad4419"/>
    <p:sldLayoutId xmlns:r="http://schemas.openxmlformats.org/officeDocument/2006/relationships" id="2147483650" r:id="R219b81bebc044a3f"/>
    <p:sldLayoutId xmlns:r="http://schemas.openxmlformats.org/officeDocument/2006/relationships" id="2147483651" r:id="R1aea2c0f28c44040"/>
    <p:sldLayoutId xmlns:r="http://schemas.openxmlformats.org/officeDocument/2006/relationships" id="2147483652" r:id="Rb60c997470e5488a"/>
    <p:sldLayoutId xmlns:r="http://schemas.openxmlformats.org/officeDocument/2006/relationships" id="2147483653" r:id="R1456222ed31a458a"/>
    <p:sldLayoutId xmlns:r="http://schemas.openxmlformats.org/officeDocument/2006/relationships" id="2147483654" r:id="R4673e4e9ed4441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990b71482a45d0" /><Relationship Type="http://schemas.openxmlformats.org/officeDocument/2006/relationships/image" Target="/ppt/media/image.png" Id="R51b6b753556a448d" /><Relationship Type="http://schemas.openxmlformats.org/officeDocument/2006/relationships/chart" Target="/ppt/slides/charts/chart1.xml" Id="R6870c905ea714e8a" /><Relationship Type="http://schemas.openxmlformats.org/officeDocument/2006/relationships/notesSlide" Target="/ppt/notesSlides/notesSlide1.xml" Id="R1731480135e0445e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CRITICAL recall</c:v>
          </c:tx>
          <c:spPr>
            <a:solidFill xmlns:a="http://schemas.openxmlformats.org/drawingml/2006/main">
              <a:srgbClr val="35A56A"/>
            </a:solidFill>
          </c:spPr>
          <c:cat>
            <c:strLit>
              <c:ptCount val="4"/>
              <c:pt idx="0">
                <c:v>Threshold rule</c:v>
              </c:pt>
              <c:pt idx="1">
                <c:v>Logistic baseline</c:v>
              </c:pt>
              <c:pt idx="2">
                <c:v>Default XGBoost</c:v>
              </c:pt>
              <c:pt idx="3">
                <c:v>Tuned XGBoost</c:v>
              </c:pt>
            </c:strLit>
          </c:cat>
          <c:val>
            <c:numLit>
              <c:formatCode>0%</c:formatCode>
              <c:ptCount val="4"/>
              <c:pt idx="0">
                <c:v>0.0416</c:v>
              </c:pt>
              <c:pt idx="1">
                <c:v>0.765</c:v>
              </c:pt>
              <c:pt idx="2">
                <c:v>0.0457</c:v>
              </c:pt>
              <c:pt idx="3">
                <c:v>0.0933</c:v>
              </c:pt>
            </c:numLit>
          </c:val>
        </c:ser>
        <c:ser>
          <c:idx val="1"/>
          <c:order val="1"/>
          <c:tx>
            <c:v>NORMAL false-alarm rate</c:v>
          </c:tx>
          <c:spPr>
            <a:solidFill xmlns:a="http://schemas.openxmlformats.org/drawingml/2006/main">
              <a:srgbClr val="C53B30"/>
            </a:solidFill>
          </c:spPr>
          <c:cat>
            <c:strLit>
              <c:ptCount val="4"/>
              <c:pt idx="0">
                <c:v>Threshold rule</c:v>
              </c:pt>
              <c:pt idx="1">
                <c:v>Logistic baseline</c:v>
              </c:pt>
              <c:pt idx="2">
                <c:v>Default XGBoost</c:v>
              </c:pt>
              <c:pt idx="3">
                <c:v>Tuned XGBoost</c:v>
              </c:pt>
            </c:strLit>
          </c:cat>
          <c:val>
            <c:numLit>
              <c:formatCode>0%</c:formatCode>
              <c:ptCount val="4"/>
              <c:pt idx="0">
                <c:v>0.0174</c:v>
              </c:pt>
              <c:pt idx="1">
                <c:v>0.6263</c:v>
              </c:pt>
              <c:pt idx="2">
                <c:v>0.0372</c:v>
              </c:pt>
              <c:pt idx="3">
                <c:v>0.1508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 b="1">
                  <a:solidFill>
                    <a:srgbClr val="1E2835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DE6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8D99A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94453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8D99A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6354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303A48"/>
              </a:solidFill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b6b753556a448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764250" cy="10401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FEF2DE-465C-49EE-B079-CA6419A2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04900"/>
            <a:ext cx="18764250" cy="929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594225-96CE-45DD-B82E-4A0D553B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219200"/>
            <a:ext cx="2571750" cy="800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1DF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7C034B-F40D-4374-8249-D06F5842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304925"/>
            <a:ext cx="2343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ML APPROACH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9DC1EF-8500-4776-88F9-9893B8F2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1219200"/>
            <a:ext cx="2571750" cy="800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B5E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84DEA6-A2CB-453E-9713-06FE087F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1304925"/>
            <a:ext cx="2343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LOCKED TEST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EA8C3A-A841-4ECE-AE51-065EA83A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190750"/>
            <a:ext cx="9010650" cy="1524000"/>
          </a:xfrm>
          <a:prstGeom xmlns:a="http://schemas.openxmlformats.org/drawingml/2006/main" prst="roundRect">
            <a:avLst>
              <a:gd name="adj" fmla="val 8750"/>
            </a:avLst>
          </a:prstGeom>
          <a:solidFill xmlns:a="http://schemas.openxmlformats.org/drawingml/2006/main">
            <a:srgbClr val="E1F4DA"/>
          </a:solidFill>
          <a:ln xmlns:a="http://schemas.openxmlformats.org/drawingml/2006/main" w="47625">
            <a:solidFill>
              <a:srgbClr val="AFAFA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F02BF1-68F7-4143-AFE9-5A02E77A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62200"/>
            <a:ext cx="8553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103"/>
          </a:bodyPr>
          <a:lstStyle xmlns:a="http://schemas.openxmlformats.org/drawingml/2006/main"/>
          <a:p xmlns:a="http://schemas.openxmlformats.org/drawingml/2006/main">
            <a:pPr>
              <a:defRPr sz="2175" b="1" u="sng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 u="sng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Detect unusual patterns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D447D8-3D06-4465-A262-CA3B62FE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90825"/>
            <a:ext cx="8553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616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161616"/>
                </a:solidFill>
                <a:latin typeface="Helvetica Neue"/>
                <a:ea typeface="Helvetica Neue"/>
                <a:cs typeface="Helvetica Neue"/>
              </a:rPr>
              <a:t>Isolation Forest scores each sensor window against a healthy-baseline training set.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13AEED-0DC0-4AD7-9B11-CEC3EDF1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905250"/>
            <a:ext cx="9010650" cy="1524000"/>
          </a:xfrm>
          <a:prstGeom xmlns:a="http://schemas.openxmlformats.org/drawingml/2006/main" prst="roundRect">
            <a:avLst>
              <a:gd name="adj" fmla="val 8750"/>
            </a:avLst>
          </a:prstGeom>
          <a:solidFill xmlns:a="http://schemas.openxmlformats.org/drawingml/2006/main">
            <a:srgbClr val="E1F4DA"/>
          </a:solidFill>
          <a:ln xmlns:a="http://schemas.openxmlformats.org/drawingml/2006/main" w="47625">
            <a:solidFill>
              <a:srgbClr val="AFAFA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CE0B4B-0745-4FA5-BE05-B5F27DFF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76700"/>
            <a:ext cx="8553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103"/>
          </a:bodyPr>
          <a:lstStyle xmlns:a="http://schemas.openxmlformats.org/drawingml/2006/main"/>
          <a:p xmlns:a="http://schemas.openxmlformats.org/drawingml/2006/main">
            <a:pPr>
              <a:defRPr sz="2175" b="1" u="sng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 u="sng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Estimate ground-risk class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232C79-A20A-4B05-9AE5-11B6FAA6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505325"/>
            <a:ext cx="8553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616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161616"/>
                </a:solidFill>
                <a:latin typeface="Helvetica Neue"/>
                <a:ea typeface="Helvetica Neue"/>
                <a:cs typeface="Helvetica Neue"/>
              </a:rPr>
              <a:t>XGBoost predicts NORMAL, WARNING or CRITICAL from windowed signals and a physics residual.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E8A7FB-7559-4CF5-A443-ECCA33938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5619750"/>
            <a:ext cx="9010650" cy="1524000"/>
          </a:xfrm>
          <a:prstGeom xmlns:a="http://schemas.openxmlformats.org/drawingml/2006/main" prst="roundRect">
            <a:avLst>
              <a:gd name="adj" fmla="val 8750"/>
            </a:avLst>
          </a:prstGeom>
          <a:solidFill xmlns:a="http://schemas.openxmlformats.org/drawingml/2006/main">
            <a:srgbClr val="E1F4DA"/>
          </a:solidFill>
          <a:ln xmlns:a="http://schemas.openxmlformats.org/drawingml/2006/main" w="47625">
            <a:solidFill>
              <a:srgbClr val="AFAFA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70DEC2-9A8F-4C29-98D9-2721EDDE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791200"/>
            <a:ext cx="8553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103"/>
          </a:bodyPr>
          <a:lstStyle xmlns:a="http://schemas.openxmlformats.org/drawingml/2006/main"/>
          <a:p xmlns:a="http://schemas.openxmlformats.org/drawingml/2006/main">
            <a:pPr>
              <a:defRPr sz="2175" b="1" u="sng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 u="sng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Convert scores to alert states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789A91-4B89-44CA-B175-BA80A900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19825"/>
            <a:ext cx="8553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616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161616"/>
                </a:solidFill>
                <a:latin typeface="Helvetica Neue"/>
                <a:ea typeface="Helvetica Neue"/>
                <a:cs typeface="Helvetica Neue"/>
              </a:rPr>
              <a:t>Persistence logic maps risk probabilities to GREEN, WATCH, WARNING or CRITICAL.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1AB95C-1D5D-4F9E-A391-13A626E2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7381875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042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04258"/>
                </a:solidFill>
                <a:latin typeface="Helvetica Neue"/>
                <a:ea typeface="Helvetica Neue"/>
                <a:cs typeface="Helvetica Neue"/>
              </a:rPr>
              <a:t>Training and evaluation data: physics-simulated sensor windows.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8D4702-FD8E-492C-8047-8CE5BE880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90750"/>
            <a:ext cx="8915400" cy="5657850"/>
          </a:xfrm>
          <a:prstGeom xmlns:a="http://schemas.openxmlformats.org/drawingml/2006/main" prst="roundRect">
            <a:avLst>
              <a:gd name="adj" fmla="val 2357"/>
            </a:avLst>
          </a:prstGeom>
          <a:solidFill xmlns:a="http://schemas.openxmlformats.org/drawingml/2006/main">
            <a:srgbClr val="F0EDFF"/>
          </a:solidFill>
          <a:ln xmlns:a="http://schemas.openxmlformats.org/drawingml/2006/main" w="47625">
            <a:solidFill>
              <a:srgbClr val="D7C2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127663-7E2F-4896-9549-154EF2C4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24100"/>
            <a:ext cx="847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CRITICAL recall and NORMAL false alarms</a:t>
            </a:r>
          </a:p>
        </p:txBody>
      </p:sp>
      <p:graphicFrame>
        <p:nvGraphicFramePr>
          <p:cNvPr id="44" name="Chart"/>
          <p:cNvGraphicFramePr/>
          <p:nvPr/>
        </p:nvGraphicFramePr>
        <p:xfrm>
          <a:off xmlns:a="http://schemas.openxmlformats.org/drawingml/2006/main" x="9753600" y="2705100"/>
          <a:ext xmlns:a="http://schemas.openxmlformats.org/drawingml/2006/main" cx="85725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870c905ea714e8a"/>
          </a:graphicData>
        </a:graphic>
      </p:graphicFrame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5868FD-50EF-4967-A48E-FB8F6F93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791325"/>
            <a:ext cx="8458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8354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83548"/>
                </a:solidFill>
                <a:latin typeface="Helvetica Neue"/>
                <a:ea typeface="Helvetica Neue"/>
                <a:cs typeface="Helvetica Neue"/>
              </a:rPr>
              <a:t>Tuned XGBoost: 9.3% CRITICAL recall, with 15.1% NORMAL false alarms.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51AC5A-1F32-42AE-B603-ACE4D029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7239000"/>
            <a:ext cx="8458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C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4C5B6A"/>
                </a:solidFill>
                <a:latin typeface="Helvetica Neue"/>
                <a:ea typeface="Helvetica Neue"/>
                <a:cs typeface="Helvetica Neue"/>
              </a:rPr>
              <a:t>All scores shown are from one locked synthetic test. No real-mine validation.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E82837-2126-4C1D-82B1-F56CAB10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8077200"/>
            <a:ext cx="18288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A96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1EAC37-67D5-455B-8177-90BEE966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824865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5B2A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5B2A27"/>
                </a:solidFill>
                <a:latin typeface="Helvetica Neue"/>
                <a:ea typeface="Helvetica Neue"/>
                <a:cs typeface="Helvetica Neue"/>
              </a:rPr>
              <a:t>Current evidence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9C2069-93EF-4AF9-BA94-65F61BFB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8229600"/>
            <a:ext cx="15582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738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7384B"/>
                </a:solidFill>
                <a:latin typeface="Helvetica Neue"/>
                <a:ea typeface="Helvetica Neue"/>
                <a:cs typeface="Helvetica Neue"/>
              </a:rPr>
              <a:t>Median alert lead time was −3.3 hours on the synthetic holdout. Early warning has not yet been demonstrated.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766C1C-1760-4C52-BCF7-1360A4A0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334500"/>
            <a:ext cx="1785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96B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96B7C"/>
                </a:solidFill>
                <a:latin typeface="Helvetica Neue"/>
                <a:ea typeface="Helvetica Neue"/>
                <a:cs typeface="Helvetica Neue"/>
              </a:rPr>
              <a:t>Related research context is cited in speaker notes; its InSAR/LSTM results are separate from this project.</a:t>
            </a:r>
          </a:p>
        </p:txBody>
      </p:sp>
    </p:spTree>
    <p:extLst>
      <p:ext uri="{BB962C8B-B14F-4D97-AF65-F5344CB8AC3E}">
        <p14:creationId xmlns:p14="http://schemas.microsoft.com/office/powerpoint/2010/main" val="8065090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2026-09-28T18:05:05.9070000Z</dcterms:created>
  <dcterms:modified xsi:type="dcterms:W3CDTF">2026-09-28T18:05:05.9070000Z</dcterms:modified>
</coreProperties>
</file>