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c5a97b6824a40" /><Relationship Type="http://schemas.openxmlformats.org/officeDocument/2006/relationships/extended-properties" Target="/docProps/app.xml" Id="R1477607b692e48c7" /><Relationship Type="http://schemas.openxmlformats.org/officeDocument/2006/relationships/officeDocument" Target="/ppt/presentation.xml" Id="Rfcfbad31bc204b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fd2343bbd4a13"/>
  </p:sldMasterIdLst>
  <p:notesMasterIdLst>
    <p:notesMasterId xmlns:r="http://schemas.openxmlformats.org/officeDocument/2006/relationships" r:id="R1a8b109323764e89"/>
  </p:notesMasterIdLst>
  <p:sldIdLst>
    <p:sldId xmlns:r="http://schemas.openxmlformats.org/officeDocument/2006/relationships" id="256" r:id="Ra64f4eaba30e4a16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eca082bec447f" /><Relationship Type="http://schemas.openxmlformats.org/officeDocument/2006/relationships/slideMaster" Target="/ppt/slideMasters/slideMaster1.xml" Id="R0eefd2343bbd4a13" /><Relationship Type="http://schemas.openxmlformats.org/officeDocument/2006/relationships/notesMaster" Target="/ppt/notesMasters/notesMaster1.xml" Id="R1a8b109323764e89" /><Relationship Type="http://schemas.openxmlformats.org/officeDocument/2006/relationships/presProps" Target="/ppt/presProps.xml" Id="R867656266aa24bbd" /><Relationship Type="http://schemas.openxmlformats.org/officeDocument/2006/relationships/tableStyles" Target="/ppt/tableStyles.xml" Id="Re2f079888c744230" /><Relationship Type="http://schemas.openxmlformats.org/officeDocument/2006/relationships/slide" Target="/ppt/slides/slide1.xml" Id="Ra64f4eaba30e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0a2c6e218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0c6cf91d44dc4" /><Relationship Type="http://schemas.openxmlformats.org/officeDocument/2006/relationships/notesMaster" Target="/ppt/notesMasters/notesMaster1.xml" Id="R38633d80301f41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 data source: reports/final_eval.md (one-time locked synthetic held-out evaluation; tuned XGBoost CRITICAL recall 0.0933) and reports/domain_gap.md (seeded synthetic tabletop stand-in, frozen model without retraining; CRITICAL recall 0.0000; 18 inputs absent; not a physical rig). Economic source: prd.md §8.1, rough India small-batch estimates: per-node ₹2,600–4,600, gateway ₹8,500–13,500, six-node plus gateway prototype ₹24,000–40,000. The total is a separate prototype estimate and must not be added to the component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91b2901874f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2114194724c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ce2258e7847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b283ca7d540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5bcba1c7745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e2669e48c4b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0CE3A8-E4B1-4239-BC4E-6CA1AB8C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99641F-6E9C-4E3C-B047-114C7C61BA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447D497-49AD-4796-95E3-704125D9D3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2FDCB24-EE71-483A-AE03-862BA5C5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5ECD87-8503-4BE4-9D19-7C3A97B77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E3A656A-14DB-4390-9D38-056933F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E2D920-AF94-463B-B250-9323214FF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398D355-E1AC-4D30-8A17-86A994AD9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3BCABC-01FC-4E59-9096-F7F3813D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44F09D-1A31-4BC8-B1AA-0FE6E3145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6BA527-6BFC-4F11-ADE1-4633B272D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14ED26-A5BB-494A-A3C4-EBA3B4DEB2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CC81C2D-4FCD-43B0-9245-4412DE6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FF5D2D-9CC3-4595-99FB-5DBB94866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18D48B-E8C8-4F88-BDA0-CE6CB699C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6c17f741f42cd" /><Relationship Type="http://schemas.openxmlformats.org/officeDocument/2006/relationships/slideLayout" Target="/ppt/slideLayouts/slideLayout1.xml" Id="R33d0396d17364fce" /><Relationship Type="http://schemas.openxmlformats.org/officeDocument/2006/relationships/slideLayout" Target="/ppt/slideLayouts/slideLayout2.xml" Id="R02f344cebb204550" /><Relationship Type="http://schemas.openxmlformats.org/officeDocument/2006/relationships/slideLayout" Target="/ppt/slideLayouts/slideLayout3.xml" Id="R91e8ea54d3f14d84" /><Relationship Type="http://schemas.openxmlformats.org/officeDocument/2006/relationships/slideLayout" Target="/ppt/slideLayouts/slideLayout4.xml" Id="R523efd97832a4eb6" /><Relationship Type="http://schemas.openxmlformats.org/officeDocument/2006/relationships/slideLayout" Target="/ppt/slideLayouts/slideLayout5.xml" Id="Rb2cfafcda52642b3" /><Relationship Type="http://schemas.openxmlformats.org/officeDocument/2006/relationships/slideLayout" Target="/ppt/slideLayouts/slideLayout6.xml" Id="Rfc568cca7f6a4d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d0396d17364fce"/>
    <p:sldLayoutId xmlns:r="http://schemas.openxmlformats.org/officeDocument/2006/relationships" id="2147483650" r:id="R02f344cebb204550"/>
    <p:sldLayoutId xmlns:r="http://schemas.openxmlformats.org/officeDocument/2006/relationships" id="2147483651" r:id="R91e8ea54d3f14d84"/>
    <p:sldLayoutId xmlns:r="http://schemas.openxmlformats.org/officeDocument/2006/relationships" id="2147483652" r:id="R523efd97832a4eb6"/>
    <p:sldLayoutId xmlns:r="http://schemas.openxmlformats.org/officeDocument/2006/relationships" id="2147483653" r:id="Rb2cfafcda52642b3"/>
    <p:sldLayoutId xmlns:r="http://schemas.openxmlformats.org/officeDocument/2006/relationships" id="2147483654" r:id="Rfc568cca7f6a4d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24f3130f4d9f" /><Relationship Type="http://schemas.openxmlformats.org/officeDocument/2006/relationships/image" Target="/ppt/media/image.png" Id="Redc0478bc8894393" /><Relationship Type="http://schemas.openxmlformats.org/officeDocument/2006/relationships/chart" Target="/ppt/slides/charts/chart1.xml" Id="Rc75ef225f76d4419" /><Relationship Type="http://schemas.openxmlformats.org/officeDocument/2006/relationships/chart" Target="/ppt/slides/charts/chart2.xml" Id="R45782150f8f947da" /><Relationship Type="http://schemas.openxmlformats.org/officeDocument/2006/relationships/notesSlide" Target="/ppt/notesSlides/notesSlide1.xml" Id="Rb5b4bf3c2e514a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CRITICAL recall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XGBoost</c:v>
          </c:tx>
          <c:spPr>
            <a:solidFill xmlns:a="http://schemas.openxmlformats.org/drawingml/2006/main">
              <a:srgbClr val="2D8A4B"/>
            </a:solidFill>
          </c:spPr>
          <c:cat>
            <c:strRef>
              <c:f>'Chart Data'!$A$2:$A$3</c:f>
              <c:strCache>
                <c:ptCount val="2"/>
                <c:pt idx="0">
                  <c:v>Synthetic test</c:v>
                </c:pt>
                <c:pt idx="1">
                  <c:v>Stand-in*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9.33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Estimated cost (₹000s)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575" b="1">
              <a:solidFill>
                <a:srgbClr val="1F6F37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Low</c:v>
          </c:tx>
          <c:spPr>
            <a:solidFill xmlns:a="http://schemas.openxmlformats.org/drawingml/2006/main">
              <a:srgbClr val="83C993"/>
            </a:solidFill>
          </c:spPr>
          <c:cat>
            <c:strRef>
              <c:f>'Chart Data'!$A$2:$A$4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2.6</c:v>
                </c:pt>
                <c:pt idx="1">
                  <c:v>8.5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v>High</c:v>
          </c:tx>
          <c:spPr>
            <a:solidFill xmlns:a="http://schemas.openxmlformats.org/drawingml/2006/main">
              <a:srgbClr val="287C43"/>
            </a:solidFill>
          </c:spPr>
          <c:cat>
            <c:strRef>
              <c:f>'Chart Data'!$C$2:$C$4</c:f>
              <c:strCache>
                <c:ptCount val="3"/>
                <c:pt idx="0">
                  <c:v>Node</c:v>
                </c:pt>
                <c:pt idx="1">
                  <c:v>Gateway</c:v>
                </c:pt>
                <c:pt idx="2">
                  <c:v>6 nodes + gateway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4.6</c:v>
                </c:pt>
                <c:pt idx="1">
                  <c:v>13.5</c:v>
                </c:pt>
                <c:pt idx="2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A1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DA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77777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2222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0478bc88943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white-chart-canvas">
            <a:extLst xmlns:a="http://schemas.openxmlformats.org/drawingml/2006/main">
              <a:ext uri="{FF2B5EF4-FFF2-40B4-BE49-F238E27FC236}">
                <a16:creationId xmlns:a16="http://schemas.microsoft.com/office/drawing/2014/main" id="{6B38C7EA-8396-4069-981C-B95E491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905625"/>
            <a:ext cx="68389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372350" y="7105650"/>
          <a:ext xmlns:a="http://schemas.openxmlformats.org/drawingml/2006/main" cx="31337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5ef225f76d4419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534650" y="7105650"/>
          <a:ext xmlns:a="http://schemas.openxmlformats.org/drawingml/2006/main" cx="33909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782150f8f947da"/>
          </a:graphicData>
        </a:graphic>
      </p:graphicFrame>
      <p:sp>
        <p:nvSpPr>
          <p:cNvPr id="5" name="ml-source-note">
            <a:extLst xmlns:a="http://schemas.openxmlformats.org/drawingml/2006/main">
              <a:ext uri="{FF2B5EF4-FFF2-40B4-BE49-F238E27FC236}">
                <a16:creationId xmlns:a16="http://schemas.microsoft.com/office/drawing/2014/main" id="{641BA6FC-DABF-4023-8477-79FF8915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98488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12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*Synthetic fixture, 18 inputs missing; no physical-rig result.</a:t>
            </a:r>
          </a:p>
        </p:txBody>
      </p:sp>
      <p:sp>
        <p:nvSpPr>
          <p:cNvPr id="6" name="economic-source-note">
            <a:extLst xmlns:a="http://schemas.openxmlformats.org/drawingml/2006/main">
              <a:ext uri="{FF2B5EF4-FFF2-40B4-BE49-F238E27FC236}">
                <a16:creationId xmlns:a16="http://schemas.microsoft.com/office/drawing/2014/main" id="{DBACE398-810E-45EB-9586-2850E7F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848850"/>
            <a:ext cx="3409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44444"/>
                </a:solidFill>
                <a:latin typeface="Arial"/>
                <a:ea typeface="Arial"/>
                <a:cs typeface="Arial"/>
              </a:rPr>
              <a:t>PRD small-batch estimates; recheck vendor prices.</a:t>
            </a:r>
          </a:p>
        </p:txBody>
      </p:sp>
    </p:spTree>
    <p:extLst>
      <p:ext uri="{BB962C8B-B14F-4D97-AF65-F5344CB8AC3E}">
        <p14:creationId xmlns:p14="http://schemas.microsoft.com/office/powerpoint/2010/main" val="429448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2026-09-28T18:31:22.4940000Z</dcterms:created>
  <dcterms:modified xsi:type="dcterms:W3CDTF">2026-09-28T18:31:22.4940000Z</dcterms:modified>
</coreProperties>
</file>