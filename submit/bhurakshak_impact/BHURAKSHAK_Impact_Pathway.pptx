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998da72dd74569" /><Relationship Type="http://schemas.openxmlformats.org/officeDocument/2006/relationships/extended-properties" Target="/docProps/app.xml" Id="Rf34b83940dc349ac" /><Relationship Type="http://schemas.openxmlformats.org/officeDocument/2006/relationships/officeDocument" Target="/ppt/presentation.xml" Id="R6bde6347b64440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0dcc26559f46e6"/>
  </p:sldMasterIdLst>
  <p:notesMasterIdLst>
    <p:notesMasterId xmlns:r="http://schemas.openxmlformats.org/officeDocument/2006/relationships" r:id="R61ffa9fb6e634659"/>
  </p:notesMasterIdLst>
  <p:sldIdLst>
    <p:sldId xmlns:r="http://schemas.openxmlformats.org/officeDocument/2006/relationships" id="256" r:id="R9fd7acb0c23d4be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fa6ce9b2b84fe7" /><Relationship Type="http://schemas.openxmlformats.org/officeDocument/2006/relationships/slideMaster" Target="/ppt/slideMasters/slideMaster1.xml" Id="Rb80dcc26559f46e6" /><Relationship Type="http://schemas.openxmlformats.org/officeDocument/2006/relationships/notesMaster" Target="/ppt/notesMasters/notesMaster1.xml" Id="R61ffa9fb6e634659" /><Relationship Type="http://schemas.openxmlformats.org/officeDocument/2006/relationships/presProps" Target="/ppt/presProps.xml" Id="R4c82d5ac9a35402f" /><Relationship Type="http://schemas.openxmlformats.org/officeDocument/2006/relationships/tableStyles" Target="/ppt/tableStyles.xml" Id="R5950468d86244dc6" /><Relationship Type="http://schemas.openxmlformats.org/officeDocument/2006/relationships/slide" Target="/ppt/slides/slide1.xml" Id="R9fd7acb0c23d4b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da400788074a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8a76b7256449db" /><Relationship Type="http://schemas.openxmlformats.org/officeDocument/2006/relationships/notesMaster" Target="/ppt/notesMasters/notesMaster1.xml" Id="Rebbf398d765740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chain is a proposed system pathway. Current software evaluation is on a held-out synthetic corpus only. No physical or mine-site validation is established. Alert levels are intended risk categories and do not predict exact collapse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a9a3332524b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cf9ee0bc149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639287acd40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d717e249049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cc8277a594f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58fcc054442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6E1F961-0A73-4E53-8221-85874878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734576-6EA5-48EE-AA48-E602B2D41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E73261A-07F1-495D-9D7F-0DBD237453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92D16FE-E672-4449-8C5D-AD69CE3A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09E3A8-75FF-4FDB-9A17-4500CAEEB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BB4D00D-E836-4196-9157-47FD3776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CF29B4-6AAC-42BB-B3BB-EC6DDE58E6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849B786-6CBF-455E-A7B7-698D30006D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98069C1-C655-4ED8-8926-BAC9FB4B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A33F9C-21F5-428E-826E-FD278B064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0F6404-E57A-4928-9FC5-50526D6A12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28483D-D100-4195-B43A-511EB08B0C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D22F9AE-63D2-4B53-B042-1600B204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73B2D7-AFF9-41D3-B0A6-90FE8ECD7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4E4000-2906-4A7B-AD03-E21C907F53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e17066e7d3455d" /><Relationship Type="http://schemas.openxmlformats.org/officeDocument/2006/relationships/slideLayout" Target="/ppt/slideLayouts/slideLayout1.xml" Id="Rb84262ea71c54cbf" /><Relationship Type="http://schemas.openxmlformats.org/officeDocument/2006/relationships/slideLayout" Target="/ppt/slideLayouts/slideLayout2.xml" Id="R2247f7e5315744ff" /><Relationship Type="http://schemas.openxmlformats.org/officeDocument/2006/relationships/slideLayout" Target="/ppt/slideLayouts/slideLayout3.xml" Id="R1384a48dd8774b4d" /><Relationship Type="http://schemas.openxmlformats.org/officeDocument/2006/relationships/slideLayout" Target="/ppt/slideLayouts/slideLayout4.xml" Id="R0dc61a9ee59240cd" /><Relationship Type="http://schemas.openxmlformats.org/officeDocument/2006/relationships/slideLayout" Target="/ppt/slideLayouts/slideLayout5.xml" Id="R47906744dd5f40f2" /><Relationship Type="http://schemas.openxmlformats.org/officeDocument/2006/relationships/slideLayout" Target="/ppt/slideLayouts/slideLayout6.xml" Id="R5ffbaa85f8ef42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4262ea71c54cbf"/>
    <p:sldLayoutId xmlns:r="http://schemas.openxmlformats.org/officeDocument/2006/relationships" id="2147483650" r:id="R2247f7e5315744ff"/>
    <p:sldLayoutId xmlns:r="http://schemas.openxmlformats.org/officeDocument/2006/relationships" id="2147483651" r:id="R1384a48dd8774b4d"/>
    <p:sldLayoutId xmlns:r="http://schemas.openxmlformats.org/officeDocument/2006/relationships" id="2147483652" r:id="R0dc61a9ee59240cd"/>
    <p:sldLayoutId xmlns:r="http://schemas.openxmlformats.org/officeDocument/2006/relationships" id="2147483653" r:id="R47906744dd5f40f2"/>
    <p:sldLayoutId xmlns:r="http://schemas.openxmlformats.org/officeDocument/2006/relationships" id="2147483654" r:id="R5ffbaa85f8ef42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fed5cd7f44bb8" /><Relationship Type="http://schemas.openxmlformats.org/officeDocument/2006/relationships/notesSlide" Target="/ppt/notesSlides/notesSlide1.xml" Id="Rcee3489fd05041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CCC8155-C251-4C0B-A9A4-A3BBB797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9619B-8B1E-488B-BD7C-614F0F54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BHURAKSHAK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FE1F1-47B8-4687-A2CA-3A529CF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9650"/>
            <a:ext cx="1238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Mine subsidence monitoring · intended impact pathway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5A982-5DF7-41FC-B709-7F2F4EF3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57225"/>
            <a:ext cx="3810000" cy="514350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59F6D-2492-4351-9675-29EEA705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6762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DESIGNED SYSTEM · NOT A FIELD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B9F9C-C173-4703-9026-D6CD4461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Sensor signals move through anomaly detection and risk assessment to human review. The impact is potential until physically and operationally validated.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3E51A-5CB2-44C9-A930-13D4394B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087BB-15A0-4264-8CFC-50186C5F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9DA6F-7563-44D3-86DF-A920660A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CD79C-7F3B-4108-A14E-5D9EC791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EE058-BF06-4ACA-83FE-075632D3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76600"/>
            <a:ext cx="514350" cy="400050"/>
          </a:xfrm>
          <a:prstGeom xmlns:a="http://schemas.openxmlformats.org/drawingml/2006/main" prst="roundRect">
            <a:avLst>
              <a:gd name="adj" fmla="val 11905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948BB-06D6-4FF9-BD37-F1413317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3718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E57F3-3A0B-4C4B-B128-2EA92129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321945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58C81-8082-4729-8320-EA1DA7B4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57375" y="321945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0C4B6-A051-4DFD-ACFD-204837CB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3676650"/>
            <a:ext cx="953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AEE0A-EA08-4632-99A4-95B12033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57375" y="3676650"/>
            <a:ext cx="953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6660D-51B6-4A55-944A-2E7CD810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81125" y="337185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B3282-8D83-4855-BF2B-EC56FDB3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81125" y="358140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67AEE-2830-4BF4-A7DB-088BAAF8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52625" y="337185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85950-AE43-42A8-8E86-76C3CA04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52625" y="358140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0D3F4-7E8E-4880-B127-0F907ECD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SENSOR MONITORING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0C476-2EF5-4C78-8084-9422EDA1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20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2AD62-8BDB-4974-BDA7-9CA32BBC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Designed for continuous tilt, vibration, crack-change and displacement readings.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744CAD-1046-4CE6-AED1-FF10604A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331D8-8026-4439-80A0-3C2AF84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CF3AC1-4C17-4765-B106-BC8E3C28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96AD02-A31B-47E6-8848-EA0D1D8F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46CBF2-8C6F-4F17-9D4F-BED2EDD1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86125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83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8DDD5F-D5E4-4872-9D3E-4E4AFD94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48200" y="3571875"/>
            <a:ext cx="18097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83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FC5024-6AD8-45BB-8CC9-1F13163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38650" y="3476625"/>
            <a:ext cx="66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6DBC81-72AE-40FC-9EFF-4E472383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05325" y="3400425"/>
            <a:ext cx="381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8CF994-C335-4600-AF9A-AD93B539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3425" y="3400425"/>
            <a:ext cx="571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F19608-6B9F-4773-84DA-20616A34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DEFORMATION DETECTION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180ABB-1C09-49A4-A96A-333125CE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6576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0AA968-399F-49E9-8D77-BF001360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Isolation Forest flags unusual patterns in the sensor readings.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D55C15-B724-4953-BCDD-1C137342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2AC15C-CD40-4E7A-8A33-4A7AD0A8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86B150-CFB9-4495-94CA-67252EDE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45F580-9ED0-454B-A66B-21BC3A6B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89CCBB-59C4-469B-9F4D-5E5204A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A71874-5CE8-4C2F-BBB8-06B82BAB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99A44C-4B99-40CD-9D38-22088BB1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BCE0CF-621F-4690-8C0B-597F1C0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FC2921-7258-42D9-948A-026DD784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2825" y="3390900"/>
            <a:ext cx="1619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B66BCA-3103-4370-8BAE-AA8FA426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62825" y="3543300"/>
            <a:ext cx="1619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218299-94C0-4B81-A3F0-BB118F89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3533775"/>
            <a:ext cx="123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2E718C-B390-4D68-917C-513678FF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RISK ASSESSMENT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C4A809-1F77-45C3-88AB-A3E8D8D3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532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14076C-4B15-4FA9-8828-3845FA1F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XGBoost assigns a risk class; physics checks screen for implausible signals.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3E2951-5753-482F-84F3-EDAAE9C0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6922A8-314F-4BA7-80FD-34A8E84E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3E825A-9BE6-460F-8C89-EE1FA15F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9C9CF7-E9FF-48B7-B4D1-7FD49F6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1B1F33-806D-488A-A888-D04C0399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86125"/>
            <a:ext cx="533400" cy="47625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92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F421AD-20A5-471B-B8BD-0F87420C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19475"/>
            <a:ext cx="381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12A41A-A528-467B-87C7-405912B5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52AB3C-60AD-4A7A-8707-EF7CE03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79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87922"/>
                </a:solidFill>
                <a:latin typeface="Helvetica Neue"/>
                <a:ea typeface="Helvetica Neue"/>
                <a:cs typeface="Helvetica Neue"/>
              </a:rPr>
              <a:t>EARLY WARNING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CC8186-2092-42F1-A77A-D5A7077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4488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D48B16-DB89-4CF9-93BD-47A9B47A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5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GREEN  →  WATCH  →  WARNING  →  CRITICAL</a:t>
            </a:r>
          </a:p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Risk states guide attention; they do not predict collapse time.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DFE7D5-09BF-4EB6-8F7A-18B0AF8A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4F9F5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C2B6B3-6C2C-4812-8E20-30BF48C0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D03B7C-A778-4B35-B409-42E06F4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D45A83D-1F54-4D8D-AE94-A2E70682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B83751-95C6-4E53-B27B-C396E9DC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28612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0D5D73-E283-4425-8BC6-E21D7F04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343275"/>
            <a:ext cx="142875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CB31F0-34E8-4798-9B3C-14641366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3505200"/>
            <a:ext cx="295275" cy="23812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B1ADBC-7774-48EF-850E-EC1EBA4B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3533775"/>
            <a:ext cx="276225" cy="2095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6B5016-24AC-4132-8009-86D33A79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HUMAN INTERVENTION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5C18D8-90DC-4673-9108-8CD7BC91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444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DA7639-C74A-4C9E-9C78-14B217FF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Operators and authorities can prioritize inspections and safety measures.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7565284-0843-4975-8209-F61BB76F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1F7F3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59A546-BCDA-43E8-BB9F-DA022AC1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824547-C0FA-43D6-8D7B-9B8C26E6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A704C62-69EE-47AA-89E3-7967C99D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D3DE24-1254-48EF-9AA2-58783AD2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34194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35EB09-95A6-4AEC-B8CA-9D5E7238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3286125"/>
            <a:ext cx="457200" cy="295275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7B896AE-BDBB-4548-8693-0C693AF0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3925" y="35718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4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B5D669-9743-4673-A68D-32B4286E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4F038A2-0B5A-4760-81ED-150B05C1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FFC115-CCDF-46F4-818D-7D77540A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POTENTIAL IMPACT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5F0631-C2B7-42FB-A16B-9DBA5820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400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743A1C9-9BF5-4773-B258-0534CF24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Earlier information could help reduce exposure and limit damage.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87F4B66-6151-4BFC-95A2-3B8A7025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337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1492A28-CAA0-4B59-8769-52B20446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6734FD9-87C2-44F9-AF2A-32C53627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293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6857754-7985-414E-B5E2-331EF4D1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6878C84-4443-49C2-B3C8-A740EBC8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249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9FD177-2DB6-47C8-A67E-1773303B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F925356-A9AD-4CED-8F3B-1E517178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8205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18ACAC5-2738-4C04-9156-6E05E32C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EF795F7-D899-49EB-B797-B3FB1605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7161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7A5FB4C-347B-486F-BC59-D38E4CB0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827F512-0605-4959-A9FF-F7E44D30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571750"/>
            <a:ext cx="36766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3B83A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DAB51F0-4B34-4500-9AB5-1788E851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581275"/>
            <a:ext cx="3448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AI PIPELINE  ·  ISOLATION FOREST + XGBOOST + PHYSICS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13BF4DF-C8F9-4806-ABEC-CE3F921F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791325"/>
            <a:ext cx="17221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F60DF5B-D9A7-41A6-84E1-51948CB6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389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POTENTIAL OUTCOMES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8A5477D-4B7F-445D-B00A-496A65E8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038975"/>
            <a:ext cx="1143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Possible benefits to evaluate in physical and field studies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7138528-BBFC-4E38-8F1C-DDA8544D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AE71573-071C-49AB-8E70-E4AC9EC6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5F354B3-E383-4E2E-9B2F-16A61465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CED36E8-EB65-4DDF-BA9F-59691EB4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1C6CEC5-3410-46E1-B42D-B2A8DD90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WORKER SAFETY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A855DB2-2AF9-49D0-8027-AD50E1E7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Worker exposure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D128D93-2647-4E0F-AF3A-5FF01DC2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D025625-FE36-45EE-9F79-F4F9BBC2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284FC72-C718-416B-BEFB-D1C35F1A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0ADB432-4718-4CBE-81C5-40725FAE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800CF9C-902E-42CE-B7B0-C13BDC0C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FASTER DETECTION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1F34290-ED1D-413C-BF3B-1B331A92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Time to notice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E008FA-E169-4F86-9742-B7CC6AC7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3488CE-F107-4580-9CC8-8F90C291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98B4D7B-0E01-4EF1-8EE4-24D74BD0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0DDE2E4-CEFA-4C6B-AD99-67A188F5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C74D860-ECD5-45D2-BF6E-D8BACC2D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TARGETED INSPECTION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2BE7191-5AED-4810-8048-C796E2B6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Inspection priority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0B731C5-4257-4337-84D7-655D8965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BFE9037-5314-41BC-91BB-E3E2D65A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B16484B-1558-405A-95EB-FD0BE36D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DD485B4-63CC-4BF2-A598-DDF5B6CF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FE59D72-235E-4ED7-8CD1-A30885D2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ENVIRONMENTAL PROTECTION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38E45ED-328E-4F2D-B195-6997A1F7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Land and water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CAC5A69-5FD9-419F-8697-1725E7D8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020175"/>
            <a:ext cx="172212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C6DA4E5-4E24-444B-87C0-4FBF1B0C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58275"/>
            <a:ext cx="1676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Evidence to date: held-out synthetic evaluation only; physical and mine-site transfer remain unverified.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DA7968B-F59B-4A72-A35E-877FB859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0"/>
            <a:ext cx="1722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Potential impact; real-world effectiveness awaits physical and field validation.</a:t>
            </a:r>
          </a:p>
        </p:txBody>
      </p:sp>
    </p:spTree>
    <p:extLst>
      <p:ext uri="{BB962C8B-B14F-4D97-AF65-F5344CB8AC3E}">
        <p14:creationId xmlns:p14="http://schemas.microsoft.com/office/powerpoint/2010/main" val="10956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2026-09-28T19:34:59.5920000Z</dcterms:created>
  <dcterms:modified xsi:type="dcterms:W3CDTF">2026-09-28T19:34:59.5920000Z</dcterms:modified>
</coreProperties>
</file>