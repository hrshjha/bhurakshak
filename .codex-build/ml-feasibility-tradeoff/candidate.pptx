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28ee288ae4aa9" /><Relationship Type="http://schemas.openxmlformats.org/officeDocument/2006/relationships/extended-properties" Target="/docProps/app.xml" Id="Rf486c84f356f4af3" /><Relationship Type="http://schemas.openxmlformats.org/officeDocument/2006/relationships/officeDocument" Target="/ppt/presentation.xml" Id="Rf7ba74fd6ca1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d2dd53b3e4041"/>
  </p:sldMasterIdLst>
  <p:notesMasterIdLst>
    <p:notesMasterId xmlns:r="http://schemas.openxmlformats.org/officeDocument/2006/relationships" r:id="Rd6e135bd3de449f3"/>
  </p:notesMasterIdLst>
  <p:sldIdLst>
    <p:sldId xmlns:r="http://schemas.openxmlformats.org/officeDocument/2006/relationships" id="256" r:id="Rab89ce8d67cb404e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d38e76470241c7" /><Relationship Type="http://schemas.openxmlformats.org/officeDocument/2006/relationships/slideMaster" Target="/ppt/slideMasters/slideMaster1.xml" Id="R746d2dd53b3e4041" /><Relationship Type="http://schemas.openxmlformats.org/officeDocument/2006/relationships/notesMaster" Target="/ppt/notesMasters/notesMaster1.xml" Id="Rd6e135bd3de449f3" /><Relationship Type="http://schemas.openxmlformats.org/officeDocument/2006/relationships/presProps" Target="/ppt/presProps.xml" Id="R269fb879ff4249f9" /><Relationship Type="http://schemas.openxmlformats.org/officeDocument/2006/relationships/tableStyles" Target="/ppt/tableStyles.xml" Id="Ref62134efed240f8" /><Relationship Type="http://schemas.openxmlformats.org/officeDocument/2006/relationships/slide" Target="/ppt/slides/slide1.xml" Id="Rab89ce8d67cb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77b9547514e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ff68afdf34001" /><Relationship Type="http://schemas.openxmlformats.org/officeDocument/2006/relationships/notesMaster" Target="/ppt/notesMasters/notesMaster1.xml" Id="R20715d05627c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Validation results from the one-time locked synthetic evaluation in reports/final_eval.md; reports/test_lock.json records evals_run=1. Values displayed exactly as provided: Threshold Rule: normal false alarms 1.7%, Critical recall 4.2%; Logistic Regression: 62.6%, 76.5%; Default XGBoost: 3.7%, 4.6%; Tuned XGBoost: 15.1%, 9.3%. This is held-out synthetic data, not real-mine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77d16b2d14e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70d7d3c494d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6df966bf447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e3f174045442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f6c85fac049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b55acaf7e43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BB36543-D4D5-41AB-9E5A-FD88E5A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045279-7548-4ED4-8717-7FFC237FA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861F6A1-CADA-4F21-A262-5CA999A748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8482101-64B6-4904-BFD2-688B420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C0DD6D-5E6B-407A-9214-79F97B220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EC04F52-0D6F-42FA-B79A-B7F1D2D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2B5852-97AD-4134-8308-64CC75CA9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7512644-B20A-4F1E-8886-096B2E35E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35C8BB8-8562-455A-B6B9-8816CE83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F6956B-A9F3-4BF5-908B-9FDC96CADC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ED9AE2-8CEE-42FB-BFB8-50E959239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8F6201-E370-45C6-BA3D-4D9AED252B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CEB472C-B1A6-4233-BF66-905F022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E7E5C6-8523-4F16-B1E6-D8628B4D3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F39791-240B-4F52-BC6E-BAD82CA68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0ce71f7fbf4f2c" /><Relationship Type="http://schemas.openxmlformats.org/officeDocument/2006/relationships/slideLayout" Target="/ppt/slideLayouts/slideLayout1.xml" Id="R52ac0dc691fa48f2" /><Relationship Type="http://schemas.openxmlformats.org/officeDocument/2006/relationships/slideLayout" Target="/ppt/slideLayouts/slideLayout2.xml" Id="R5cb1bf8aad834f54" /><Relationship Type="http://schemas.openxmlformats.org/officeDocument/2006/relationships/slideLayout" Target="/ppt/slideLayouts/slideLayout3.xml" Id="R5104a93e6c3d4beb" /><Relationship Type="http://schemas.openxmlformats.org/officeDocument/2006/relationships/slideLayout" Target="/ppt/slideLayouts/slideLayout4.xml" Id="R9c55b3f48e734db5" /><Relationship Type="http://schemas.openxmlformats.org/officeDocument/2006/relationships/slideLayout" Target="/ppt/slideLayouts/slideLayout5.xml" Id="R562fce540e31418b" /><Relationship Type="http://schemas.openxmlformats.org/officeDocument/2006/relationships/slideLayout" Target="/ppt/slideLayouts/slideLayout6.xml" Id="Rc5cce030e7ee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c0dc691fa48f2"/>
    <p:sldLayoutId xmlns:r="http://schemas.openxmlformats.org/officeDocument/2006/relationships" id="2147483650" r:id="R5cb1bf8aad834f54"/>
    <p:sldLayoutId xmlns:r="http://schemas.openxmlformats.org/officeDocument/2006/relationships" id="2147483651" r:id="R5104a93e6c3d4beb"/>
    <p:sldLayoutId xmlns:r="http://schemas.openxmlformats.org/officeDocument/2006/relationships" id="2147483652" r:id="R9c55b3f48e734db5"/>
    <p:sldLayoutId xmlns:r="http://schemas.openxmlformats.org/officeDocument/2006/relationships" id="2147483653" r:id="R562fce540e31418b"/>
    <p:sldLayoutId xmlns:r="http://schemas.openxmlformats.org/officeDocument/2006/relationships" id="2147483654" r:id="Rc5cce030e7ee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8760425e44083" /><Relationship Type="http://schemas.openxmlformats.org/officeDocument/2006/relationships/image" Target="/ppt/media/image.png" Id="Rf985f7bfa4b04705" /><Relationship Type="http://schemas.openxmlformats.org/officeDocument/2006/relationships/chart" Target="/ppt/slides/charts/chart1.xml" Id="Raaefcadf42ca456f" /><Relationship Type="http://schemas.openxmlformats.org/officeDocument/2006/relationships/notesSlide" Target="/ppt/notesSlides/notesSlide1.xml" Id="Ra0f929928cd24e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Normal false alarms</c:v>
          </c:tx>
          <c:spPr>
            <a:solidFill xmlns:a="http://schemas.openxmlformats.org/drawingml/2006/main">
              <a:srgbClr val="E6A23C"/>
            </a:solidFill>
          </c:spPr>
          <c:cat>
            <c:strLit>
              <c:ptCount val="4"/>
              <c:pt idx="0">
                <c:v>Tuned XGBoost</c:v>
              </c:pt>
              <c:pt idx="1">
                <c:v>Default XGBoost</c:v>
              </c:pt>
              <c:pt idx="2">
                <c:v>Logistic Regression</c:v>
              </c:pt>
              <c:pt idx="3">
                <c:v>Threshold Rule</c:v>
              </c:pt>
            </c:strLit>
          </c:cat>
          <c:val>
            <c:numLit>
              <c:formatCode>0.0"%"</c:formatCode>
              <c:ptCount val="4"/>
              <c:pt idx="0">
                <c:v>15.1</c:v>
              </c:pt>
              <c:pt idx="1">
                <c:v>3.7</c:v>
              </c:pt>
              <c:pt idx="2">
                <c:v>62.6</c:v>
              </c:pt>
              <c:pt idx="3">
                <c:v>1.7</c:v>
              </c:pt>
            </c:numLit>
          </c:val>
        </c:ser>
        <c:ser>
          <c:idx val="1"/>
          <c:order val="1"/>
          <c:tx>
            <c:v>Critical recall</c:v>
          </c:tx>
          <c:spPr>
            <a:solidFill xmlns:a="http://schemas.openxmlformats.org/drawingml/2006/main">
              <a:srgbClr val="2D8A4B"/>
            </a:solidFill>
          </c:spPr>
          <c:cat>
            <c:strLit>
              <c:ptCount val="4"/>
              <c:pt idx="0">
                <c:v>Tuned XGBoost</c:v>
              </c:pt>
              <c:pt idx="1">
                <c:v>Default XGBoost</c:v>
              </c:pt>
              <c:pt idx="2">
                <c:v>Logistic Regression</c:v>
              </c:pt>
              <c:pt idx="3">
                <c:v>Threshold Rule</c:v>
              </c:pt>
            </c:strLit>
          </c:cat>
          <c:val>
            <c:numLit>
              <c:formatCode>0.0"%"</c:formatCode>
              <c:ptCount val="4"/>
              <c:pt idx="0">
                <c:v>9.3</c:v>
              </c:pt>
              <c:pt idx="1">
                <c:v>4.6</c:v>
              </c:pt>
              <c:pt idx="2">
                <c:v>76.5</c:v>
              </c:pt>
              <c:pt idx="3">
                <c:v>4.2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63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overlap val="0"/>
        <c:axId val="48650112"/>
        <c:axId val="48672768"/>
      </c:barChart>
      <c:catAx>
        <c:axId val="48650112"/>
        <c:scaling>
          <c:max val="100"/>
          <c:min val="0"/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394653"/>
                    </a:solidFill>
                    <a:latin typeface="Arial"/>
                    <a:ea typeface="Arial"/>
                    <a:cs typeface="Arial"/>
                  </a:rPr>
                  <a:t>Percent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39465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7929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59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&quot;%&quot;" sourceLinked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4404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2EE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6313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2EE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5f7bfa4b04705"/>
          <a:srcRect xmlns:a="http://schemas.openxmlformats.org/drawingml/2006/main" l="7" t="0" r="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previous-ml-validation-content">
            <a:extLst xmlns:a="http://schemas.openxmlformats.org/drawingml/2006/main">
              <a:ext uri="{FF2B5EF4-FFF2-40B4-BE49-F238E27FC236}">
                <a16:creationId xmlns:a16="http://schemas.microsoft.com/office/drawing/2014/main" id="{8FE7BC0C-FAC1-41A8-8B4B-B9D586B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86106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F"/>
          </a:solidFill>
          <a:ln xmlns:a="http://schemas.openxmlformats.org/drawingml/2006/main" w="0">
            <a:noFill/>
          </a:ln>
        </p:spPr>
      </p:sp>
      <p:sp>
        <p:nvSpPr>
          <p:cNvPr id="3" name="ml-validation-kicker">
            <a:extLst xmlns:a="http://schemas.openxmlformats.org/drawingml/2006/main">
              <a:ext uri="{FF2B5EF4-FFF2-40B4-BE49-F238E27FC236}">
                <a16:creationId xmlns:a16="http://schemas.microsoft.com/office/drawing/2014/main" id="{A3EE0FA8-1C0D-430C-8C57-0691C97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0982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7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7"/>
                </a:solidFill>
                <a:latin typeface="Arial"/>
                <a:ea typeface="Arial"/>
                <a:cs typeface="Arial"/>
              </a:rPr>
              <a:t>TECHNICAL FEASIBILITY  /  ML VALIDATION</a:t>
            </a:r>
          </a:p>
        </p:txBody>
      </p:sp>
      <p:sp>
        <p:nvSpPr>
          <p:cNvPr id="4" name="ml-validation-title">
            <a:extLst xmlns:a="http://schemas.openxmlformats.org/drawingml/2006/main">
              <a:ext uri="{FF2B5EF4-FFF2-40B4-BE49-F238E27FC236}">
                <a16:creationId xmlns:a16="http://schemas.microsoft.com/office/drawing/2014/main" id="{F63A4162-241B-4456-9287-B66C5953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38425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13D"/>
                </a:solidFill>
                <a:latin typeface="Arial"/>
                <a:ea typeface="Arial"/>
                <a:cs typeface="Arial"/>
              </a:rPr>
              <a:t>ML Performance Trade-off (Locked Synthetic Test)</a:t>
            </a:r>
          </a:p>
        </p:txBody>
      </p:sp>
      <p:sp>
        <p:nvSpPr>
          <p:cNvPr id="5" name="ml-validation-subtitle">
            <a:extLst xmlns:a="http://schemas.openxmlformats.org/drawingml/2006/main">
              <a:ext uri="{FF2B5EF4-FFF2-40B4-BE49-F238E27FC236}">
                <a16:creationId xmlns:a16="http://schemas.microsoft.com/office/drawing/2014/main" id="{75FCEA13-AB26-4E1D-B260-12372C8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432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Critical recall compared with normal false alarms · same held-out test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800600" y="3190875"/>
          <a:ext xmlns:a="http://schemas.openxmlformats.org/drawingml/2006/main" cx="82010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fcadf42ca456f"/>
          </a:graphicData>
        </a:graphic>
      </p:graphicFrame>
      <p:sp>
        <p:nvSpPr>
          <p:cNvPr id="7" name="ml-validation-footnote">
            <a:extLst xmlns:a="http://schemas.openxmlformats.org/drawingml/2006/main">
              <a:ext uri="{FF2B5EF4-FFF2-40B4-BE49-F238E27FC236}">
                <a16:creationId xmlns:a16="http://schemas.microsoft.com/office/drawing/2014/main" id="{D8937E00-797C-44A5-A97B-CCA016C6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74199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675"/>
                </a:solidFill>
                <a:latin typeface="Arial"/>
                <a:ea typeface="Arial"/>
                <a:cs typeface="Arial"/>
              </a:rPr>
              <a:t>Evaluation on held-out synthetic data; real-mine performance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770127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2026-09-28T19:28:39.1420000Z</dcterms:created>
  <dcterms:modified xsi:type="dcterms:W3CDTF">2026-09-28T19:28:39.1420000Z</dcterms:modified>
</coreProperties>
</file>