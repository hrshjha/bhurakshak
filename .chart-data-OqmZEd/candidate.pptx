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4328db09a402c" /><Relationship Type="http://schemas.openxmlformats.org/officeDocument/2006/relationships/extended-properties" Target="/docProps/app.xml" Id="R606f54dd16de4dd0" /><Relationship Type="http://schemas.openxmlformats.org/officeDocument/2006/relationships/officeDocument" Target="/ppt/presentation.xml" Id="R69aab17e2507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8597f62e343e9"/>
  </p:sldMasterIdLst>
  <p:notesMasterIdLst>
    <p:notesMasterId xmlns:r="http://schemas.openxmlformats.org/officeDocument/2006/relationships" r:id="R6451b8d873fb4547"/>
  </p:notesMasterIdLst>
  <p:sldIdLst>
    <p:sldId xmlns:r="http://schemas.openxmlformats.org/officeDocument/2006/relationships" id="256" r:id="R33240c55cbe44293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04008f33040d3" /><Relationship Type="http://schemas.openxmlformats.org/officeDocument/2006/relationships/slideMaster" Target="/ppt/slideMasters/slideMaster1.xml" Id="R1798597f62e343e9" /><Relationship Type="http://schemas.openxmlformats.org/officeDocument/2006/relationships/notesMaster" Target="/ppt/notesMasters/notesMaster1.xml" Id="R6451b8d873fb4547" /><Relationship Type="http://schemas.openxmlformats.org/officeDocument/2006/relationships/presProps" Target="/ppt/presProps.xml" Id="R023bf6e637b24340" /><Relationship Type="http://schemas.openxmlformats.org/officeDocument/2006/relationships/tableStyles" Target="/ppt/tableStyles.xml" Id="R73d15a61d37e434e" /><Relationship Type="http://schemas.openxmlformats.org/officeDocument/2006/relationships/slide" Target="/ppt/slides/slide1.xml" Id="R33240c55cbe4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2eeb1bc43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f4a8e4a004cc5" /><Relationship Type="http://schemas.openxmlformats.org/officeDocument/2006/relationships/notesMaster" Target="/ppt/notesMasters/notesMaster1.xml" Id="Rbf029ab083664f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reports/final_eval.md and reports/test_lock.json. One-time locked evaluation of the synthetic held-out corpus, seed 20260929, evals_run=1. Scatter plot x=normal false-alarm rate (%), y=CRITICAL recall (%): tuned XGBoost (15.08, 9.33); default XGBoost (3.72, 4.57); logistic regression (62.63, 76.50); threshold rule (1.74, 4.16). Headline delta is tuned XGBoost vs default XGBoost: +4.76 percentage points CRITICAL recall, and +11.36 percentage points NORMAL false-alarm rate. End-to-end alert figures, same locked evaluation: median lead time -3.3334 hours and 0.0460798 false-alert episodes per normal event day. reports/acceptance_criteria.md explicitly states no early-warning success claim is supported; physical tabletop and real-mine validation are absent. All outcomes are synthetic-test results, not evidence of realized field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d8124494143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775d415f64e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f8a7ee87049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88969ab434a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3726cd2e143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bb2767091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3D6B4B-0D7A-4033-BB65-EBA7622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77D991-2318-4CE0-ADED-8A2A61482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C72BE65-0D01-48C5-8D25-137C2A6E45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F5DE342-B5EE-4D44-BC96-4C0E1F1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D435ED-01DE-4500-9AB3-78D7A9FAF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E93797-B839-40FD-B082-2488DC3E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A63DEF-8847-4231-BCA0-F847C4F20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D1011B3-4A11-402B-9105-E2558C038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F52136C-780C-4FDA-A07F-882AA8B4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B0B872-DD27-4FC3-9E51-F634B50B6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6498C7-9136-47F6-8D48-0E23EF2005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CD78A3-859E-46E6-8DAB-9886AD7D7F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C165EB-A465-4455-BFFD-1C1D1AC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B592EE-5921-417C-ACB0-B767C66C5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632A2E-873B-4DEF-8165-0604ED336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b6644139ff472d" /><Relationship Type="http://schemas.openxmlformats.org/officeDocument/2006/relationships/slideLayout" Target="/ppt/slideLayouts/slideLayout1.xml" Id="Rf498b508bc0f4c85" /><Relationship Type="http://schemas.openxmlformats.org/officeDocument/2006/relationships/slideLayout" Target="/ppt/slideLayouts/slideLayout2.xml" Id="R09ac342e009e4c3d" /><Relationship Type="http://schemas.openxmlformats.org/officeDocument/2006/relationships/slideLayout" Target="/ppt/slideLayouts/slideLayout3.xml" Id="R0c92e75a606f44dc" /><Relationship Type="http://schemas.openxmlformats.org/officeDocument/2006/relationships/slideLayout" Target="/ppt/slideLayouts/slideLayout4.xml" Id="R2fcb4726195f41d6" /><Relationship Type="http://schemas.openxmlformats.org/officeDocument/2006/relationships/slideLayout" Target="/ppt/slideLayouts/slideLayout5.xml" Id="R19b7afbf66f14302" /><Relationship Type="http://schemas.openxmlformats.org/officeDocument/2006/relationships/slideLayout" Target="/ppt/slideLayouts/slideLayout6.xml" Id="R101a559d9a88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8b508bc0f4c85"/>
    <p:sldLayoutId xmlns:r="http://schemas.openxmlformats.org/officeDocument/2006/relationships" id="2147483650" r:id="R09ac342e009e4c3d"/>
    <p:sldLayoutId xmlns:r="http://schemas.openxmlformats.org/officeDocument/2006/relationships" id="2147483651" r:id="R0c92e75a606f44dc"/>
    <p:sldLayoutId xmlns:r="http://schemas.openxmlformats.org/officeDocument/2006/relationships" id="2147483652" r:id="R2fcb4726195f41d6"/>
    <p:sldLayoutId xmlns:r="http://schemas.openxmlformats.org/officeDocument/2006/relationships" id="2147483653" r:id="R19b7afbf66f14302"/>
    <p:sldLayoutId xmlns:r="http://schemas.openxmlformats.org/officeDocument/2006/relationships" id="2147483654" r:id="R101a559d9a88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abedbed014edb" /><Relationship Type="http://schemas.openxmlformats.org/officeDocument/2006/relationships/image" Target="/ppt/media/image.png" Id="R8d95beb5a5164522" /><Relationship Type="http://schemas.openxmlformats.org/officeDocument/2006/relationships/chart" Target="/ppt/slides/charts/chart1.xml" Id="R89bac9067b5649ea" /><Relationship Type="http://schemas.openxmlformats.org/officeDocument/2006/relationships/notesSlide" Target="/ppt/notesSlides/notesSlide1.xml" Id="Reb3a062d09074ef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54451"/>
                </a:solidFill>
                <a:latin typeface="Arial"/>
                <a:ea typeface="Arial"/>
                <a:cs typeface="Arial"/>
              </a:rPr>
              <a:t>Model results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050" b="1">
              <a:solidFill>
                <a:srgbClr val="354451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ser>
          <c:idx val="0"/>
          <c:order val="0"/>
          <c:tx>
            <c:v>Tuned XGBoost</c:v>
          </c:tx>
          <c:spPr>
            <a:solidFill xmlns:a="http://schemas.openxmlformats.org/drawingml/2006/main">
              <a:srgbClr val="2D8A4B"/>
            </a:solidFill>
          </c:spPr>
          <c:marker>
            <c:symbol val="circle"/>
            <c:size val="9"/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15.08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9.33</c:v>
                </c:pt>
              </c:numCache>
            </c:numRef>
          </c:yVal>
        </c:ser>
        <c:ser>
          <c:idx val="1"/>
          <c:order val="1"/>
          <c:tx>
            <c:v>Default XGBoost</c:v>
          </c:tx>
          <c:spPr>
            <a:solidFill xmlns:a="http://schemas.openxmlformats.org/drawingml/2006/main">
              <a:srgbClr val="4F7897"/>
            </a:solidFill>
          </c:spPr>
          <c:marker>
            <c:symbol val="circle"/>
            <c:size val="9"/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3.72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4.57</c:v>
                </c:pt>
              </c:numCache>
            </c:numRef>
          </c:yVal>
        </c:ser>
        <c:ser>
          <c:idx val="2"/>
          <c:order val="2"/>
          <c:tx>
            <c:v>Logistic regression</c:v>
          </c:tx>
          <c:spPr>
            <a:solidFill xmlns:a="http://schemas.openxmlformats.org/drawingml/2006/main">
              <a:srgbClr val="D89A36"/>
            </a:solidFill>
          </c:spPr>
          <c:marker>
            <c:symbol val="circle"/>
            <c:size val="9"/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62.63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76.5</c:v>
                </c:pt>
              </c:numCache>
            </c:numRef>
          </c:yVal>
        </c:ser>
        <c:ser>
          <c:idx val="3"/>
          <c:order val="3"/>
          <c:tx>
            <c:v>Threshold rule</c:v>
          </c:tx>
          <c:spPr>
            <a:solidFill xmlns:a="http://schemas.openxmlformats.org/drawingml/2006/main">
              <a:srgbClr val="8B6BAE"/>
            </a:solidFill>
          </c:spPr>
          <c:marker>
            <c:symbol val="circle"/>
            <c:size val="9"/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1.74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4.16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CRITICAL recall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NORMAL false-alarm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4F0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31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0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5beb5a5164522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3D992AC9-C91B-4828-95F1-D6AE64F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15075"/>
            <a:ext cx="92964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28F7BE44-F704-48DB-AA47-ECCF301F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29375"/>
            <a:ext cx="91725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96F13DAC-AFB5-4752-A9DB-8FCBC28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WHAT THE LOCKED TEST ACTUALLY SHOWS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F5E22D3F-ACD2-4D8E-A885-82070281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Classifier trade-off · one synthetic held-out corpus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753600" y="7124700"/>
          <a:ext xmlns:a="http://schemas.openxmlformats.org/drawingml/2006/main" cx="523875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ac9067b5649ea"/>
          </a:graphicData>
        </a:graphic>
      </p:graphicFrame>
      <p:sp>
        <p:nvSpPr>
          <p:cNvPr id="7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D69ABF0B-EA60-4A71-AACD-D85F9F4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7143750"/>
            <a:ext cx="9525" cy="2609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C7EB"/>
            </a:solidFill>
          </a:ln>
        </p:spPr>
      </p:sp>
      <p:sp>
        <p:nvSpPr>
          <p:cNvPr id="8" name="tuning-heading">
            <a:extLst xmlns:a="http://schemas.openxmlformats.org/drawingml/2006/main">
              <a:ext uri="{FF2B5EF4-FFF2-40B4-BE49-F238E27FC236}">
                <a16:creationId xmlns:a16="http://schemas.microsoft.com/office/drawing/2014/main" id="{4EF16D41-3906-45BD-A7FB-4735D1E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191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TUNED XGBOOST vs DEFAULT</a:t>
            </a:r>
          </a:p>
        </p:txBody>
      </p:sp>
      <p:sp>
        <p:nvSpPr>
          <p:cNvPr id="9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F302A6AA-3D78-469B-98F8-61E14382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5342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CRITICAL recall</a:t>
            </a:r>
          </a:p>
        </p:txBody>
      </p:sp>
      <p:sp>
        <p:nvSpPr>
          <p:cNvPr id="10" name="recall-value">
            <a:extLst xmlns:a="http://schemas.openxmlformats.org/drawingml/2006/main">
              <a:ext uri="{FF2B5EF4-FFF2-40B4-BE49-F238E27FC236}">
                <a16:creationId xmlns:a16="http://schemas.microsoft.com/office/drawing/2014/main" id="{722B9EC6-9BE9-4424-8CBB-167AEF7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7628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4B"/>
                </a:solidFill>
                <a:latin typeface="Arial"/>
                <a:ea typeface="Arial"/>
                <a:cs typeface="Arial"/>
              </a:rPr>
              <a:t>4.6%  →  9.3%</a:t>
            </a:r>
          </a:p>
        </p:txBody>
      </p:sp>
      <p:sp>
        <p:nvSpPr>
          <p:cNvPr id="11" name="recall-delta">
            <a:extLst xmlns:a="http://schemas.openxmlformats.org/drawingml/2006/main">
              <a:ext uri="{FF2B5EF4-FFF2-40B4-BE49-F238E27FC236}">
                <a16:creationId xmlns:a16="http://schemas.microsoft.com/office/drawing/2014/main" id="{66CC5172-A0EB-4749-B7E7-5EDDD03C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067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+4.8 percentage points</a:t>
            </a:r>
          </a:p>
        </p:txBody>
      </p:sp>
      <p:sp>
        <p:nvSpPr>
          <p:cNvPr id="12" name="false-alarm-label">
            <a:extLst xmlns:a="http://schemas.openxmlformats.org/drawingml/2006/main">
              <a:ext uri="{FF2B5EF4-FFF2-40B4-BE49-F238E27FC236}">
                <a16:creationId xmlns:a16="http://schemas.microsoft.com/office/drawing/2014/main" id="{67015CB7-9632-4678-9BAF-5058501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43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NORMAL false-alarm rate</a:t>
            </a:r>
          </a:p>
        </p:txBody>
      </p:sp>
      <p:sp>
        <p:nvSpPr>
          <p:cNvPr id="13" name="false-alarm-value">
            <a:extLst xmlns:a="http://schemas.openxmlformats.org/drawingml/2006/main">
              <a:ext uri="{FF2B5EF4-FFF2-40B4-BE49-F238E27FC236}">
                <a16:creationId xmlns:a16="http://schemas.microsoft.com/office/drawing/2014/main" id="{301F571E-EC60-4910-BF61-CC7382A2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6677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9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91C"/>
                </a:solidFill>
                <a:latin typeface="Arial"/>
                <a:ea typeface="Arial"/>
                <a:cs typeface="Arial"/>
              </a:rPr>
              <a:t>3.7%  →  15.1%</a:t>
            </a:r>
          </a:p>
        </p:txBody>
      </p:sp>
      <p:sp>
        <p:nvSpPr>
          <p:cNvPr id="14" name="false-alarm-delta">
            <a:extLst xmlns:a="http://schemas.openxmlformats.org/drawingml/2006/main">
              <a:ext uri="{FF2B5EF4-FFF2-40B4-BE49-F238E27FC236}">
                <a16:creationId xmlns:a16="http://schemas.microsoft.com/office/drawing/2014/main" id="{B84A50B6-CBDB-473C-95AF-90783F48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9725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+11.4 percentage points</a:t>
            </a:r>
          </a:p>
        </p:txBody>
      </p:sp>
      <p:sp>
        <p:nvSpPr>
          <p:cNvPr id="15" name="pipeline-divider">
            <a:extLst xmlns:a="http://schemas.openxmlformats.org/drawingml/2006/main">
              <a:ext uri="{FF2B5EF4-FFF2-40B4-BE49-F238E27FC236}">
                <a16:creationId xmlns:a16="http://schemas.microsoft.com/office/drawing/2014/main" id="{FE1CE05A-8393-4CE5-B96B-19C83F18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277350"/>
            <a:ext cx="2724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16" name="pipeline-result">
            <a:extLst xmlns:a="http://schemas.openxmlformats.org/drawingml/2006/main">
              <a:ext uri="{FF2B5EF4-FFF2-40B4-BE49-F238E27FC236}">
                <a16:creationId xmlns:a16="http://schemas.microsoft.com/office/drawing/2014/main" id="{3F2C45DB-E058-4CA9-8885-9B04814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363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End-to-end alert median lead: −3.3 h</a:t>
            </a:r>
          </a:p>
        </p:txBody>
      </p:sp>
      <p:sp>
        <p:nvSpPr>
          <p:cNvPr id="17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16A8EBB6-B6BB-4F27-A86B-A7B7CC2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91552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Locked synthetic test · tuning raised recall but also false alarms. Negative alert lead means early-warning benefit is not demonstrated; no real-mine validation.</a:t>
            </a:r>
          </a:p>
        </p:txBody>
      </p:sp>
    </p:spTree>
    <p:extLst>
      <p:ext uri="{BB962C8B-B14F-4D97-AF65-F5344CB8AC3E}">
        <p14:creationId xmlns:p14="http://schemas.microsoft.com/office/powerpoint/2010/main" val="754767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2026-09-28T19:11:07.2220000Z</dcterms:created>
  <dcterms:modified xsi:type="dcterms:W3CDTF">2026-09-28T19:11:07.2220000Z</dcterms:modified>
</coreProperties>
</file>