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5801d200a4e19" /><Relationship Type="http://schemas.openxmlformats.org/officeDocument/2006/relationships/extended-properties" Target="/docProps/app.xml" Id="Raf2f7a5089aa40e9" /><Relationship Type="http://schemas.openxmlformats.org/officeDocument/2006/relationships/officeDocument" Target="/ppt/presentation.xml" Id="R264fa54a9436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b57d94c964730"/>
  </p:sldMasterIdLst>
  <p:notesMasterIdLst>
    <p:notesMasterId xmlns:r="http://schemas.openxmlformats.org/officeDocument/2006/relationships" r:id="Rf5e7d331eb9a459f"/>
  </p:notesMasterIdLst>
  <p:sldIdLst>
    <p:sldId xmlns:r="http://schemas.openxmlformats.org/officeDocument/2006/relationships" id="256" r:id="R68f0c969e1d64d2a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b201e7d92845fd" /><Relationship Type="http://schemas.openxmlformats.org/officeDocument/2006/relationships/slideMaster" Target="/ppt/slideMasters/slideMaster1.xml" Id="Rd8bb57d94c964730" /><Relationship Type="http://schemas.openxmlformats.org/officeDocument/2006/relationships/notesMaster" Target="/ppt/notesMasters/notesMaster1.xml" Id="Rf5e7d331eb9a459f" /><Relationship Type="http://schemas.openxmlformats.org/officeDocument/2006/relationships/presProps" Target="/ppt/presProps.xml" Id="R46940854d43a405f" /><Relationship Type="http://schemas.openxmlformats.org/officeDocument/2006/relationships/tableStyles" Target="/ppt/tableStyles.xml" Id="Ra385b201dd2f4fa4" /><Relationship Type="http://schemas.openxmlformats.org/officeDocument/2006/relationships/slide" Target="/ppt/slides/slide1.xml" Id="R68f0c969e1d6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1b4199ba848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b59c51dc84e72" /><Relationship Type="http://schemas.openxmlformats.org/officeDocument/2006/relationships/notesMaster" Target="/ppt/notesMasters/notesMaster1.xml" Id="R283ce75b0cbc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reports/final_eval.md and reports/test_lock.json. One-time locked evaluation of the synthetic held-out corpus, seed 20260929, evals_run=1. Scatter plot x=normal false-alarm rate (%), y=CRITICAL recall (%): tuned XGBoost (15.08, 9.33); default XGBoost (3.72, 4.57); logistic regression (62.63, 76.50); threshold rule (1.74, 4.16). Headline delta is tuned XGBoost vs default XGBoost: +4.76 percentage points CRITICAL recall, and +11.36 percentage points NORMAL false-alarm rate. End-to-end alert figures, same locked evaluation: median lead time -3.3334 hours and 0.0460798 false-alert episodes per normal event day. reports/acceptance_criteria.md explicitly states no early-warning success claim is supported; physical tabletop and real-mine validation are absent. All outcomes are synthetic-test results, not evidence of realized field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e07879c5c4d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96d82fc414f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50b9c0d2146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b6f8d27004b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a916f490546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9678c222d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D00920-7461-4EB4-BC6C-1DD91FEC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A2C819-F38D-46AF-9F0E-6D870092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E87976-5689-4B24-A007-2327E2CBCA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64E49CD-70C0-461D-B4A2-955FBB2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7B3C48-91D0-4BAD-840D-2AB970DDD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56FA2EF-4FFC-4FBC-90FB-25FC7D9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3E09B3-C4E2-4CBF-AEA2-24E3A8C5F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16E177B-8855-4DF0-A91B-C087C1827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E9B895-543B-4095-A5F7-E8CC1D4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79DE75-8FE0-4D17-BA01-8B421A45D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E18FBC-9FB5-4AB1-BA18-474558114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55B411-3AA2-4303-AFB2-45048AACA1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3C2E59-F4F8-4C1F-9D6A-7153EB2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5A67C4-3AFB-4E69-BD40-2CE94A369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B6A02A-DB54-4AEB-AD1C-A7D2FD26E2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c76699296c4fba" /><Relationship Type="http://schemas.openxmlformats.org/officeDocument/2006/relationships/slideLayout" Target="/ppt/slideLayouts/slideLayout1.xml" Id="R0eb9fadf0e984338" /><Relationship Type="http://schemas.openxmlformats.org/officeDocument/2006/relationships/slideLayout" Target="/ppt/slideLayouts/slideLayout2.xml" Id="R7f2c2c255f5d407b" /><Relationship Type="http://schemas.openxmlformats.org/officeDocument/2006/relationships/slideLayout" Target="/ppt/slideLayouts/slideLayout3.xml" Id="R9314a53f349f480a" /><Relationship Type="http://schemas.openxmlformats.org/officeDocument/2006/relationships/slideLayout" Target="/ppt/slideLayouts/slideLayout4.xml" Id="R9a5efc63ca444e62" /><Relationship Type="http://schemas.openxmlformats.org/officeDocument/2006/relationships/slideLayout" Target="/ppt/slideLayouts/slideLayout5.xml" Id="R1f90f4d21e2542f0" /><Relationship Type="http://schemas.openxmlformats.org/officeDocument/2006/relationships/slideLayout" Target="/ppt/slideLayouts/slideLayout6.xml" Id="R46a5abbba87741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9fadf0e984338"/>
    <p:sldLayoutId xmlns:r="http://schemas.openxmlformats.org/officeDocument/2006/relationships" id="2147483650" r:id="R7f2c2c255f5d407b"/>
    <p:sldLayoutId xmlns:r="http://schemas.openxmlformats.org/officeDocument/2006/relationships" id="2147483651" r:id="R9314a53f349f480a"/>
    <p:sldLayoutId xmlns:r="http://schemas.openxmlformats.org/officeDocument/2006/relationships" id="2147483652" r:id="R9a5efc63ca444e62"/>
    <p:sldLayoutId xmlns:r="http://schemas.openxmlformats.org/officeDocument/2006/relationships" id="2147483653" r:id="R1f90f4d21e2542f0"/>
    <p:sldLayoutId xmlns:r="http://schemas.openxmlformats.org/officeDocument/2006/relationships" id="2147483654" r:id="R46a5abbba87741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c379d2a744857" /><Relationship Type="http://schemas.openxmlformats.org/officeDocument/2006/relationships/image" Target="/ppt/media/image.png" Id="Rd053ed07dea74eee" /><Relationship Type="http://schemas.openxmlformats.org/officeDocument/2006/relationships/chart" Target="/ppt/slides/charts/chart1.xml" Id="R556e16a543094aa8" /><Relationship Type="http://schemas.openxmlformats.org/officeDocument/2006/relationships/notesSlide" Target="/ppt/notesSlides/notesSlide1.xml" Id="R6f07689d4ff249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54451"/>
                </a:solidFill>
                <a:latin typeface="Arial"/>
                <a:ea typeface="Arial"/>
                <a:cs typeface="Arial"/>
              </a:rPr>
              <a:t>Model results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050" b="1">
              <a:solidFill>
                <a:srgbClr val="354451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ser>
          <c:idx val="0"/>
          <c:order val="0"/>
          <c:tx>
            <c:v>Tuned XGBoost</c:v>
          </c:tx>
          <c:spPr>
            <a:solidFill xmlns:a="http://schemas.openxmlformats.org/drawingml/2006/main">
              <a:srgbClr val="2D8A4B"/>
            </a:solidFill>
          </c:spPr>
          <c:marker>
            <c:symbol val="circle"/>
            <c:size val="9"/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15.08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9.33</c:v>
                </c:pt>
              </c:numCache>
            </c:numRef>
          </c:yVal>
        </c:ser>
        <c:ser>
          <c:idx val="1"/>
          <c:order val="1"/>
          <c:tx>
            <c:v>Default XGBoost</c:v>
          </c:tx>
          <c:spPr>
            <a:solidFill xmlns:a="http://schemas.openxmlformats.org/drawingml/2006/main">
              <a:srgbClr val="4F7897"/>
            </a:solidFill>
          </c:spPr>
          <c:marker>
            <c:symbol val="circle"/>
            <c:size val="9"/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3.72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4.57</c:v>
                </c:pt>
              </c:numCache>
            </c:numRef>
          </c:yVal>
        </c:ser>
        <c:ser>
          <c:idx val="2"/>
          <c:order val="2"/>
          <c:tx>
            <c:v>Logistic regression</c:v>
          </c:tx>
          <c:spPr>
            <a:solidFill xmlns:a="http://schemas.openxmlformats.org/drawingml/2006/main">
              <a:srgbClr val="D89A36"/>
            </a:solidFill>
          </c:spPr>
          <c:marker>
            <c:symbol val="circle"/>
            <c:size val="9"/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62.63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76.5</c:v>
                </c:pt>
              </c:numCache>
            </c:numRef>
          </c:yVal>
        </c:ser>
        <c:ser>
          <c:idx val="3"/>
          <c:order val="3"/>
          <c:tx>
            <c:v>Threshold rule</c:v>
          </c:tx>
          <c:spPr>
            <a:solidFill xmlns:a="http://schemas.openxmlformats.org/drawingml/2006/main">
              <a:srgbClr val="8B6BAE"/>
            </a:solidFill>
          </c:spPr>
          <c:marker>
            <c:symbol val="circle"/>
            <c:size val="9"/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1.74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4.16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CRITICAL recall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NORMAL false-alarm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4F0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31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0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3ed07dea74eee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39C9E18F-32A7-476D-9073-A94AB28C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15075"/>
            <a:ext cx="92964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740B07E9-5746-40D6-A109-8DC1C34D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29375"/>
            <a:ext cx="896302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35FAF3F1-7F5D-4EEA-9918-AC874406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WHAT THE LOCKED TEST ACTUALLY SHOWS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1D811DB2-1C3E-46CA-BB1F-3C0896D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Classifier trade-off · one synthetic held-out corpus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753600" y="7124700"/>
          <a:ext xmlns:a="http://schemas.openxmlformats.org/drawingml/2006/main" cx="523875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6e16a543094aa8"/>
          </a:graphicData>
        </a:graphic>
      </p:graphicFrame>
      <p:sp>
        <p:nvSpPr>
          <p:cNvPr id="7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891D2EC6-3F7A-49AD-8F48-4C2020A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7143750"/>
            <a:ext cx="9525" cy="2609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C7EB"/>
            </a:solidFill>
          </a:ln>
        </p:spPr>
      </p:sp>
      <p:sp>
        <p:nvSpPr>
          <p:cNvPr id="8" name="tuning-heading">
            <a:extLst xmlns:a="http://schemas.openxmlformats.org/drawingml/2006/main">
              <a:ext uri="{FF2B5EF4-FFF2-40B4-BE49-F238E27FC236}">
                <a16:creationId xmlns:a16="http://schemas.microsoft.com/office/drawing/2014/main" id="{8EA8BE2C-8E11-4512-A60B-EA60F4C4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191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TUNED XGBOOST vs DEFAULT</a:t>
            </a:r>
          </a:p>
        </p:txBody>
      </p:sp>
      <p:sp>
        <p:nvSpPr>
          <p:cNvPr id="9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15332BF1-73B1-4A17-9FE2-C7259082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5342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CRITICAL recall</a:t>
            </a:r>
          </a:p>
        </p:txBody>
      </p:sp>
      <p:sp>
        <p:nvSpPr>
          <p:cNvPr id="10" name="recall-value">
            <a:extLst xmlns:a="http://schemas.openxmlformats.org/drawingml/2006/main">
              <a:ext uri="{FF2B5EF4-FFF2-40B4-BE49-F238E27FC236}">
                <a16:creationId xmlns:a16="http://schemas.microsoft.com/office/drawing/2014/main" id="{129A8C61-7B90-4E78-B6B5-BE6A6884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7628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4B"/>
                </a:solidFill>
                <a:latin typeface="Arial"/>
                <a:ea typeface="Arial"/>
                <a:cs typeface="Arial"/>
              </a:rPr>
              <a:t>4.6%  →  9.3%</a:t>
            </a:r>
          </a:p>
        </p:txBody>
      </p:sp>
      <p:sp>
        <p:nvSpPr>
          <p:cNvPr id="11" name="recall-delta">
            <a:extLst xmlns:a="http://schemas.openxmlformats.org/drawingml/2006/main">
              <a:ext uri="{FF2B5EF4-FFF2-40B4-BE49-F238E27FC236}">
                <a16:creationId xmlns:a16="http://schemas.microsoft.com/office/drawing/2014/main" id="{DBE272E3-1705-4CFA-8DA2-BB17B28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067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+4.8 percentage points</a:t>
            </a:r>
          </a:p>
        </p:txBody>
      </p:sp>
      <p:sp>
        <p:nvSpPr>
          <p:cNvPr id="12" name="false-alarm-label">
            <a:extLst xmlns:a="http://schemas.openxmlformats.org/drawingml/2006/main">
              <a:ext uri="{FF2B5EF4-FFF2-40B4-BE49-F238E27FC236}">
                <a16:creationId xmlns:a16="http://schemas.microsoft.com/office/drawing/2014/main" id="{7F979515-72B5-48D9-8261-77D4D5E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43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NORMAL false-alarm rate</a:t>
            </a:r>
          </a:p>
        </p:txBody>
      </p:sp>
      <p:sp>
        <p:nvSpPr>
          <p:cNvPr id="13" name="false-alarm-value">
            <a:extLst xmlns:a="http://schemas.openxmlformats.org/drawingml/2006/main">
              <a:ext uri="{FF2B5EF4-FFF2-40B4-BE49-F238E27FC236}">
                <a16:creationId xmlns:a16="http://schemas.microsoft.com/office/drawing/2014/main" id="{44D1BE1C-1247-4BB4-9F67-56F15F60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6677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9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91C"/>
                </a:solidFill>
                <a:latin typeface="Arial"/>
                <a:ea typeface="Arial"/>
                <a:cs typeface="Arial"/>
              </a:rPr>
              <a:t>3.7%  →  15.1%</a:t>
            </a:r>
          </a:p>
        </p:txBody>
      </p:sp>
      <p:sp>
        <p:nvSpPr>
          <p:cNvPr id="14" name="false-alarm-delta">
            <a:extLst xmlns:a="http://schemas.openxmlformats.org/drawingml/2006/main">
              <a:ext uri="{FF2B5EF4-FFF2-40B4-BE49-F238E27FC236}">
                <a16:creationId xmlns:a16="http://schemas.microsoft.com/office/drawing/2014/main" id="{485CB5A7-B9D4-48AF-A8C0-2323C35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9725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+11.4 percentage points</a:t>
            </a:r>
          </a:p>
        </p:txBody>
      </p:sp>
      <p:sp>
        <p:nvSpPr>
          <p:cNvPr id="15" name="pipeline-divider">
            <a:extLst xmlns:a="http://schemas.openxmlformats.org/drawingml/2006/main">
              <a:ext uri="{FF2B5EF4-FFF2-40B4-BE49-F238E27FC236}">
                <a16:creationId xmlns:a16="http://schemas.microsoft.com/office/drawing/2014/main" id="{4231D687-3A88-45D1-8D6D-8BB96D86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277350"/>
            <a:ext cx="2724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16" name="pipeline-result">
            <a:extLst xmlns:a="http://schemas.openxmlformats.org/drawingml/2006/main">
              <a:ext uri="{FF2B5EF4-FFF2-40B4-BE49-F238E27FC236}">
                <a16:creationId xmlns:a16="http://schemas.microsoft.com/office/drawing/2014/main" id="{CA2EF171-A5E2-4E43-A82B-9D23E1A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363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End-to-end alert median lead: −3.3 h</a:t>
            </a:r>
          </a:p>
        </p:txBody>
      </p:sp>
      <p:sp>
        <p:nvSpPr>
          <p:cNvPr id="17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73E3329F-FD2B-49F1-9845-70F3463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91552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Locked synthetic test · tuning raised recall but also false alarms. Negative alert lead means early-warning benefit is not demonstrated; no real-mine validation.</a:t>
            </a:r>
          </a:p>
        </p:txBody>
      </p:sp>
    </p:spTree>
    <p:extLst>
      <p:ext uri="{BB962C8B-B14F-4D97-AF65-F5344CB8AC3E}">
        <p14:creationId xmlns:p14="http://schemas.microsoft.com/office/powerpoint/2010/main" val="22729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2026-09-28T19:09:56.3030000Z</dcterms:created>
  <dcterms:modified xsi:type="dcterms:W3CDTF">2026-09-28T19:09:56.3030000Z</dcterms:modified>
</coreProperties>
</file>